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F508F2-D9AF-4540-8921-9D8A964CD178}" v="1" dt="2026-01-06T19:45:26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7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ek Daouk" userId="8802b5b459261a34" providerId="LiveId" clId="{56303699-288A-45A5-8CFA-FB366289A31B}"/>
    <pc:docChg chg="custSel modSld">
      <pc:chgData name="Malek Daouk" userId="8802b5b459261a34" providerId="LiveId" clId="{56303699-288A-45A5-8CFA-FB366289A31B}" dt="2026-01-06T19:45:35.205" v="4" actId="478"/>
      <pc:docMkLst>
        <pc:docMk/>
      </pc:docMkLst>
      <pc:sldChg chg="delSp modSp mod">
        <pc:chgData name="Malek Daouk" userId="8802b5b459261a34" providerId="LiveId" clId="{56303699-288A-45A5-8CFA-FB366289A31B}" dt="2026-01-06T19:45:35.205" v="4" actId="478"/>
        <pc:sldMkLst>
          <pc:docMk/>
          <pc:sldMk cId="86501655" sldId="265"/>
        </pc:sldMkLst>
        <pc:spChg chg="mod">
          <ac:chgData name="Malek Daouk" userId="8802b5b459261a34" providerId="LiveId" clId="{56303699-288A-45A5-8CFA-FB366289A31B}" dt="2026-01-06T19:45:29.556" v="3" actId="113"/>
          <ac:spMkLst>
            <pc:docMk/>
            <pc:sldMk cId="86501655" sldId="265"/>
            <ac:spMk id="2" creationId="{3551FCFD-C1C7-90EE-8837-3DA7C40CB2FE}"/>
          </ac:spMkLst>
        </pc:spChg>
        <pc:spChg chg="del">
          <ac:chgData name="Malek Daouk" userId="8802b5b459261a34" providerId="LiveId" clId="{56303699-288A-45A5-8CFA-FB366289A31B}" dt="2026-01-06T19:45:35.205" v="4" actId="478"/>
          <ac:spMkLst>
            <pc:docMk/>
            <pc:sldMk cId="86501655" sldId="265"/>
            <ac:spMk id="7" creationId="{EE0D5458-0AC7-03F1-AE36-B9823754F9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693F-4C62-40F1-8474-A75AA188DD6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09A4-73D9-4CB0-83E0-9F3D58A4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69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693F-4C62-40F1-8474-A75AA188DD6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09A4-73D9-4CB0-83E0-9F3D58A4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1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693F-4C62-40F1-8474-A75AA188DD6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09A4-73D9-4CB0-83E0-9F3D58A4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10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693F-4C62-40F1-8474-A75AA188DD6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09A4-73D9-4CB0-83E0-9F3D58A4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89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693F-4C62-40F1-8474-A75AA188DD6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09A4-73D9-4CB0-83E0-9F3D58A4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22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693F-4C62-40F1-8474-A75AA188DD6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09A4-73D9-4CB0-83E0-9F3D58A4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40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693F-4C62-40F1-8474-A75AA188DD6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09A4-73D9-4CB0-83E0-9F3D58A4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8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693F-4C62-40F1-8474-A75AA188DD6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09A4-73D9-4CB0-83E0-9F3D58A4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5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693F-4C62-40F1-8474-A75AA188DD6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09A4-73D9-4CB0-83E0-9F3D58A4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1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693F-4C62-40F1-8474-A75AA188DD6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09A4-73D9-4CB0-83E0-9F3D58A4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38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693F-4C62-40F1-8474-A75AA188DD6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09A4-73D9-4CB0-83E0-9F3D58A4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3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3693F-4C62-40F1-8474-A75AA188DD6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909A4-73D9-4CB0-83E0-9F3D58A4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4F8E-9B49-A158-1CED-FD8699AE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FCFD-C1C7-90EE-8837-3DA7C40C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" y="1208925"/>
            <a:ext cx="9018739" cy="1325563"/>
          </a:xfrm>
        </p:spPr>
        <p:txBody>
          <a:bodyPr>
            <a:noAutofit/>
          </a:bodyPr>
          <a:lstStyle/>
          <a:p>
            <a:r>
              <a:rPr lang="en-US" sz="1600" dirty="0"/>
              <a:t>Municipal bonds are generally not well-suited for tax-advantaged (qualified) accounts, such as IRAs or retirement plans. The primary benefit of municipal bonds is their tax-free interest, but that advantage is largely lost inside a qualified account where income is already tax-deferred or tax-free.</a:t>
            </a:r>
            <a:br>
              <a:rPr lang="en-US" sz="1600" dirty="0"/>
            </a:br>
            <a:r>
              <a:rPr lang="en-US" sz="1600" dirty="0"/>
              <a:t>As a result, investors may accept a lower yield without receiving any additional tax benefit. This can reduce overall income potential and lead to a lower long-term return compared to holding higher-yielding taxable bonds in the same account.</a:t>
            </a:r>
            <a:br>
              <a:rPr lang="en-US" sz="1600" dirty="0"/>
            </a:br>
            <a:r>
              <a:rPr lang="en-US" sz="1600" dirty="0"/>
              <a:t>For this reason, municipal bonds are typically more effective in non-qualified accounts, while taxable bonds are better positioned inside qualified accounts to maximize after-tax portfolio efficiency.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CF15AE-2AC8-E897-22AF-1904437AB16D}"/>
              </a:ext>
            </a:extLst>
          </p:cNvPr>
          <p:cNvSpPr/>
          <p:nvPr/>
        </p:nvSpPr>
        <p:spPr>
          <a:xfrm>
            <a:off x="0" y="6"/>
            <a:ext cx="9144000" cy="638827"/>
          </a:xfrm>
          <a:prstGeom prst="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Muni Bonds in Qualified Accounts</a:t>
            </a:r>
          </a:p>
        </p:txBody>
      </p:sp>
      <p:pic>
        <p:nvPicPr>
          <p:cNvPr id="5" name="Picture 2" descr="Northeastern Mutual Logo and symbol, meaning, history, PNG ...">
            <a:extLst>
              <a:ext uri="{FF2B5EF4-FFF2-40B4-BE49-F238E27FC236}">
                <a16:creationId xmlns:a16="http://schemas.microsoft.com/office/drawing/2014/main" id="{E4BDF49D-2D9B-74E1-E3BD-BEE1445C6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744" y="5909936"/>
            <a:ext cx="203200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01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126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Municipal bonds are generally not well-suited for tax-advantaged (qualified) accounts, such as IRAs or retirement plans. The primary benefit of municipal bonds is their tax-free interest, but that advantage is largely lost inside a qualified account where income is already tax-deferred or tax-free. As a result, investors may accept a lower yield without receiving any additional tax benefit. This can reduce overall income potential and lead to a lower long-term return compared to holding higher-yielding taxable bonds in the same account. For this reason, municipal bonds are typically more effective in non-qualified accounts, while taxable bonds are better positioned inside qualified accounts to maximize after-tax portfolio efficiency.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Malek Daouk</dc:creator>
  <cp:lastModifiedBy>Malek Daouk</cp:lastModifiedBy>
  <cp:revision>1</cp:revision>
  <dcterms:created xsi:type="dcterms:W3CDTF">2026-01-06T19:42:47Z</dcterms:created>
  <dcterms:modified xsi:type="dcterms:W3CDTF">2026-01-06T19:45:35Z</dcterms:modified>
</cp:coreProperties>
</file>