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5"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2" d="100"/>
          <a:sy n="52" d="100"/>
        </p:scale>
        <p:origin x="1724"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AFD12E-B84F-4C51-B8C4-71BE2088E604}"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470003-4F04-4EAD-B2FB-9310AA5D0C5A}" type="slidenum">
              <a:rPr lang="en-US" smtClean="0"/>
              <a:t>‹#›</a:t>
            </a:fld>
            <a:endParaRPr lang="en-US"/>
          </a:p>
        </p:txBody>
      </p:sp>
    </p:spTree>
    <p:extLst>
      <p:ext uri="{BB962C8B-B14F-4D97-AF65-F5344CB8AC3E}">
        <p14:creationId xmlns:p14="http://schemas.microsoft.com/office/powerpoint/2010/main" val="2193340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AFD12E-B84F-4C51-B8C4-71BE2088E604}"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470003-4F04-4EAD-B2FB-9310AA5D0C5A}" type="slidenum">
              <a:rPr lang="en-US" smtClean="0"/>
              <a:t>‹#›</a:t>
            </a:fld>
            <a:endParaRPr lang="en-US"/>
          </a:p>
        </p:txBody>
      </p:sp>
    </p:spTree>
    <p:extLst>
      <p:ext uri="{BB962C8B-B14F-4D97-AF65-F5344CB8AC3E}">
        <p14:creationId xmlns:p14="http://schemas.microsoft.com/office/powerpoint/2010/main" val="2092549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AFD12E-B84F-4C51-B8C4-71BE2088E604}"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470003-4F04-4EAD-B2FB-9310AA5D0C5A}" type="slidenum">
              <a:rPr lang="en-US" smtClean="0"/>
              <a:t>‹#›</a:t>
            </a:fld>
            <a:endParaRPr lang="en-US"/>
          </a:p>
        </p:txBody>
      </p:sp>
    </p:spTree>
    <p:extLst>
      <p:ext uri="{BB962C8B-B14F-4D97-AF65-F5344CB8AC3E}">
        <p14:creationId xmlns:p14="http://schemas.microsoft.com/office/powerpoint/2010/main" val="3060908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AFD12E-B84F-4C51-B8C4-71BE2088E604}"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470003-4F04-4EAD-B2FB-9310AA5D0C5A}" type="slidenum">
              <a:rPr lang="en-US" smtClean="0"/>
              <a:t>‹#›</a:t>
            </a:fld>
            <a:endParaRPr lang="en-US"/>
          </a:p>
        </p:txBody>
      </p:sp>
    </p:spTree>
    <p:extLst>
      <p:ext uri="{BB962C8B-B14F-4D97-AF65-F5344CB8AC3E}">
        <p14:creationId xmlns:p14="http://schemas.microsoft.com/office/powerpoint/2010/main" val="117947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AFD12E-B84F-4C51-B8C4-71BE2088E604}" type="datetimeFigureOut">
              <a:rPr lang="en-US" smtClean="0"/>
              <a:t>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470003-4F04-4EAD-B2FB-9310AA5D0C5A}" type="slidenum">
              <a:rPr lang="en-US" smtClean="0"/>
              <a:t>‹#›</a:t>
            </a:fld>
            <a:endParaRPr lang="en-US"/>
          </a:p>
        </p:txBody>
      </p:sp>
    </p:spTree>
    <p:extLst>
      <p:ext uri="{BB962C8B-B14F-4D97-AF65-F5344CB8AC3E}">
        <p14:creationId xmlns:p14="http://schemas.microsoft.com/office/powerpoint/2010/main" val="945523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AFD12E-B84F-4C51-B8C4-71BE2088E604}" type="datetimeFigureOut">
              <a:rPr lang="en-US" smtClean="0"/>
              <a:t>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470003-4F04-4EAD-B2FB-9310AA5D0C5A}" type="slidenum">
              <a:rPr lang="en-US" smtClean="0"/>
              <a:t>‹#›</a:t>
            </a:fld>
            <a:endParaRPr lang="en-US"/>
          </a:p>
        </p:txBody>
      </p:sp>
    </p:spTree>
    <p:extLst>
      <p:ext uri="{BB962C8B-B14F-4D97-AF65-F5344CB8AC3E}">
        <p14:creationId xmlns:p14="http://schemas.microsoft.com/office/powerpoint/2010/main" val="21334030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AFD12E-B84F-4C51-B8C4-71BE2088E604}" type="datetimeFigureOut">
              <a:rPr lang="en-US" smtClean="0"/>
              <a:t>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470003-4F04-4EAD-B2FB-9310AA5D0C5A}" type="slidenum">
              <a:rPr lang="en-US" smtClean="0"/>
              <a:t>‹#›</a:t>
            </a:fld>
            <a:endParaRPr lang="en-US"/>
          </a:p>
        </p:txBody>
      </p:sp>
    </p:spTree>
    <p:extLst>
      <p:ext uri="{BB962C8B-B14F-4D97-AF65-F5344CB8AC3E}">
        <p14:creationId xmlns:p14="http://schemas.microsoft.com/office/powerpoint/2010/main" val="229386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AFD12E-B84F-4C51-B8C4-71BE2088E604}"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470003-4F04-4EAD-B2FB-9310AA5D0C5A}" type="slidenum">
              <a:rPr lang="en-US" smtClean="0"/>
              <a:t>‹#›</a:t>
            </a:fld>
            <a:endParaRPr lang="en-US"/>
          </a:p>
        </p:txBody>
      </p:sp>
    </p:spTree>
    <p:extLst>
      <p:ext uri="{BB962C8B-B14F-4D97-AF65-F5344CB8AC3E}">
        <p14:creationId xmlns:p14="http://schemas.microsoft.com/office/powerpoint/2010/main" val="2522972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AFD12E-B84F-4C51-B8C4-71BE2088E604}" type="datetimeFigureOut">
              <a:rPr lang="en-US" smtClean="0"/>
              <a:t>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470003-4F04-4EAD-B2FB-9310AA5D0C5A}" type="slidenum">
              <a:rPr lang="en-US" smtClean="0"/>
              <a:t>‹#›</a:t>
            </a:fld>
            <a:endParaRPr lang="en-US"/>
          </a:p>
        </p:txBody>
      </p:sp>
    </p:spTree>
    <p:extLst>
      <p:ext uri="{BB962C8B-B14F-4D97-AF65-F5344CB8AC3E}">
        <p14:creationId xmlns:p14="http://schemas.microsoft.com/office/powerpoint/2010/main" val="2441118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AFD12E-B84F-4C51-B8C4-71BE2088E604}"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470003-4F04-4EAD-B2FB-9310AA5D0C5A}" type="slidenum">
              <a:rPr lang="en-US" smtClean="0"/>
              <a:t>‹#›</a:t>
            </a:fld>
            <a:endParaRPr lang="en-US"/>
          </a:p>
        </p:txBody>
      </p:sp>
    </p:spTree>
    <p:extLst>
      <p:ext uri="{BB962C8B-B14F-4D97-AF65-F5344CB8AC3E}">
        <p14:creationId xmlns:p14="http://schemas.microsoft.com/office/powerpoint/2010/main" val="2598114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AFD12E-B84F-4C51-B8C4-71BE2088E604}" type="datetimeFigureOut">
              <a:rPr lang="en-US" smtClean="0"/>
              <a:t>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470003-4F04-4EAD-B2FB-9310AA5D0C5A}" type="slidenum">
              <a:rPr lang="en-US" smtClean="0"/>
              <a:t>‹#›</a:t>
            </a:fld>
            <a:endParaRPr lang="en-US"/>
          </a:p>
        </p:txBody>
      </p:sp>
    </p:spTree>
    <p:extLst>
      <p:ext uri="{BB962C8B-B14F-4D97-AF65-F5344CB8AC3E}">
        <p14:creationId xmlns:p14="http://schemas.microsoft.com/office/powerpoint/2010/main" val="3960321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AFD12E-B84F-4C51-B8C4-71BE2088E604}" type="datetimeFigureOut">
              <a:rPr lang="en-US" smtClean="0"/>
              <a:t>1/6/2026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470003-4F04-4EAD-B2FB-9310AA5D0C5A}" type="slidenum">
              <a:rPr lang="en-US" smtClean="0"/>
              <a:t>‹#›</a:t>
            </a:fld>
            <a:endParaRPr lang="en-US"/>
          </a:p>
        </p:txBody>
      </p:sp>
    </p:spTree>
    <p:extLst>
      <p:ext uri="{BB962C8B-B14F-4D97-AF65-F5344CB8AC3E}">
        <p14:creationId xmlns:p14="http://schemas.microsoft.com/office/powerpoint/2010/main" val="306042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74F8E-9B49-A158-1CED-FD8699AEC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1FCFD-C1C7-90EE-8837-3DA7C40CB2FE}"/>
              </a:ext>
            </a:extLst>
          </p:cNvPr>
          <p:cNvSpPr>
            <a:spLocks noGrp="1"/>
          </p:cNvSpPr>
          <p:nvPr>
            <p:ph type="title"/>
          </p:nvPr>
        </p:nvSpPr>
        <p:spPr>
          <a:xfrm>
            <a:off x="46972" y="820632"/>
            <a:ext cx="9050056" cy="1325563"/>
          </a:xfrm>
        </p:spPr>
        <p:txBody>
          <a:bodyPr>
            <a:noAutofit/>
          </a:bodyPr>
          <a:lstStyle/>
          <a:p>
            <a:r>
              <a:rPr lang="en-US" sz="1600" dirty="0"/>
              <a:t>Active and passive funds differ in their approach to security selection and risk management. Active strategies seek to outperform a benchmark through manager decisions, while passive strategies aim to closely track an index with lower turnover and typically lower costs.</a:t>
            </a:r>
            <a:br>
              <a:rPr lang="en-US" sz="1600" dirty="0"/>
            </a:br>
            <a:r>
              <a:rPr lang="en-US" sz="1600" dirty="0"/>
              <a:t>Reviewing the balance between active and passive exposures can help clarify how much performance is driven by market returns versus manager selection, and whether the cost and risk trade-offs remain aligned with the investor’s objectives.</a:t>
            </a:r>
          </a:p>
        </p:txBody>
      </p:sp>
      <p:sp>
        <p:nvSpPr>
          <p:cNvPr id="4" name="Rectangle 3">
            <a:extLst>
              <a:ext uri="{FF2B5EF4-FFF2-40B4-BE49-F238E27FC236}">
                <a16:creationId xmlns:a16="http://schemas.microsoft.com/office/drawing/2014/main" id="{1BCF15AE-2AC8-E897-22AF-1904437AB16D}"/>
              </a:ext>
            </a:extLst>
          </p:cNvPr>
          <p:cNvSpPr/>
          <p:nvPr/>
        </p:nvSpPr>
        <p:spPr>
          <a:xfrm>
            <a:off x="0" y="20"/>
            <a:ext cx="9144000" cy="638827"/>
          </a:xfrm>
          <a:prstGeom prst="rect">
            <a:avLst/>
          </a:prstGeom>
          <a:solidFill>
            <a:srgbClr val="163E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3600" dirty="0"/>
              <a:t>Active Passive Management</a:t>
            </a:r>
          </a:p>
        </p:txBody>
      </p:sp>
      <p:pic>
        <p:nvPicPr>
          <p:cNvPr id="1028" name="Picture 4" descr="Achieving Balance: Benefits of the Blend in Target Date Funds">
            <a:extLst>
              <a:ext uri="{FF2B5EF4-FFF2-40B4-BE49-F238E27FC236}">
                <a16:creationId xmlns:a16="http://schemas.microsoft.com/office/drawing/2014/main" id="{E425363F-9D35-B4AD-D7B2-CF20BBF828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786" y="2825856"/>
            <a:ext cx="5770220" cy="3771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5016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5</TotalTime>
  <Words>84</Words>
  <Application>Microsoft Office PowerPoint</Application>
  <PresentationFormat>On-screen Show (4:3)</PresentationFormat>
  <Paragraphs>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Active and passive funds differ in their approach to security selection and risk management. Active strategies seek to outperform a benchmark through manager decisions, while passive strategies aim to closely track an index with lower turnover and typically lower costs. Reviewing the balance between active and passive exposures can help clarify how much performance is driven by market returns versus manager selection, and whether the cost and risk trade-offs remain aligned with the investor’s objectives.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Malek Daouk</dc:creator>
  <cp:lastModifiedBy>Malek Daouk</cp:lastModifiedBy>
  <cp:revision>1</cp:revision>
  <dcterms:created xsi:type="dcterms:W3CDTF">2026-01-06T20:07:00Z</dcterms:created>
  <dcterms:modified xsi:type="dcterms:W3CDTF">2026-01-06T20:12:27Z</dcterms:modified>
</cp:coreProperties>
</file>