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5" d="100"/>
          <a:sy n="55" d="100"/>
        </p:scale>
        <p:origin x="1624"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DF674E-0F81-4B2C-A82E-80007BD94D9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3469962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DF674E-0F81-4B2C-A82E-80007BD94D9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3211511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DF674E-0F81-4B2C-A82E-80007BD94D9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5642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DF674E-0F81-4B2C-A82E-80007BD94D90}"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298289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DF674E-0F81-4B2C-A82E-80007BD94D90}"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3280618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DF674E-0F81-4B2C-A82E-80007BD94D90}"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1652803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DF674E-0F81-4B2C-A82E-80007BD94D90}"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144496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DF674E-0F81-4B2C-A82E-80007BD94D90}"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447264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DF674E-0F81-4B2C-A82E-80007BD94D90}"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1598558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DF674E-0F81-4B2C-A82E-80007BD94D9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3570361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DF674E-0F81-4B2C-A82E-80007BD94D9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B322D9-776A-4B06-9B56-30D876BD43AE}" type="slidenum">
              <a:rPr lang="en-US" smtClean="0"/>
              <a:t>‹#›</a:t>
            </a:fld>
            <a:endParaRPr lang="en-US"/>
          </a:p>
        </p:txBody>
      </p:sp>
    </p:spTree>
    <p:extLst>
      <p:ext uri="{BB962C8B-B14F-4D97-AF65-F5344CB8AC3E}">
        <p14:creationId xmlns:p14="http://schemas.microsoft.com/office/powerpoint/2010/main" val="3864908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DF674E-0F81-4B2C-A82E-80007BD94D90}" type="datetimeFigureOut">
              <a:rPr lang="en-US" smtClean="0"/>
              <a:t>1/17/2026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B322D9-776A-4B06-9B56-30D876BD43AE}" type="slidenum">
              <a:rPr lang="en-US" smtClean="0"/>
              <a:t>‹#›</a:t>
            </a:fld>
            <a:endParaRPr lang="en-US"/>
          </a:p>
        </p:txBody>
      </p:sp>
    </p:spTree>
    <p:extLst>
      <p:ext uri="{BB962C8B-B14F-4D97-AF65-F5344CB8AC3E}">
        <p14:creationId xmlns:p14="http://schemas.microsoft.com/office/powerpoint/2010/main" val="14437343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59473" y="1023069"/>
            <a:ext cx="9203473" cy="1325563"/>
          </a:xfrm>
        </p:spPr>
        <p:txBody>
          <a:bodyPr>
            <a:noAutofit/>
          </a:bodyPr>
          <a:lstStyle/>
          <a:p>
            <a:r>
              <a:rPr lang="en-US" sz="1400" dirty="0"/>
              <a:t>Many portfolios include individual stocks, which can offer growth potential but also introduce risks that differ from diversified investments. The performance of a single company can be impacted by factors unrelated to the broader market, such as business challenges, management changes, competitive pressures, or regulatory developments.</a:t>
            </a:r>
            <a:br>
              <a:rPr lang="en-US" sz="1400" dirty="0"/>
            </a:br>
            <a:br>
              <a:rPr lang="en-US" sz="1400" dirty="0"/>
            </a:br>
            <a:r>
              <a:rPr lang="en-US" sz="1400" dirty="0"/>
              <a:t>As a result, portfolios with meaningful individual stock exposure may experience greater volatility and less consistency over time. Larger positions in a small number of stocks can increase concentration risk, while holdings clustered in one sector can reduce diversification benefits.</a:t>
            </a:r>
            <a:br>
              <a:rPr lang="en-US" sz="1400" dirty="0"/>
            </a:br>
            <a:br>
              <a:rPr lang="en-US" sz="1400" dirty="0"/>
            </a:br>
            <a:r>
              <a:rPr lang="en-US" sz="1400" dirty="0"/>
              <a:t>For this reason, individual stock exposure is typically evaluated within the broader context of diversification, asset allocation, and long-term portfolio structure.</a:t>
            </a:r>
          </a:p>
        </p:txBody>
      </p:sp>
      <p:sp>
        <p:nvSpPr>
          <p:cNvPr id="4" name="Rectangle 3">
            <a:extLst>
              <a:ext uri="{FF2B5EF4-FFF2-40B4-BE49-F238E27FC236}">
                <a16:creationId xmlns:a16="http://schemas.microsoft.com/office/drawing/2014/main" id="{1BCF15AE-2AC8-E897-22AF-1904437AB16D}"/>
              </a:ext>
            </a:extLst>
          </p:cNvPr>
          <p:cNvSpPr/>
          <p:nvPr/>
        </p:nvSpPr>
        <p:spPr>
          <a:xfrm>
            <a:off x="0" y="4"/>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Individual Stocks</a:t>
            </a:r>
          </a:p>
        </p:txBody>
      </p:sp>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TotalTime>
  <Words>128</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Many portfolios include individual stocks, which can offer growth potential but also introduce risks that differ from diversified investments. The performance of a single company can be impacted by factors unrelated to the broader market, such as business challenges, management changes, competitive pressures, or regulatory developments.  As a result, portfolios with meaningful individual stock exposure may experience greater volatility and less consistency over time. Larger positions in a small number of stocks can increase concentration risk, while holdings clustered in one sector can reduce diversification benefits.  For this reason, individual stock exposure is typically evaluated within the broader context of diversification, asset allocation, and long-term portfolio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2026-01-17T17:10:14Z</dcterms:created>
  <dcterms:modified xsi:type="dcterms:W3CDTF">2026-01-17T17:16:44Z</dcterms:modified>
</cp:coreProperties>
</file>