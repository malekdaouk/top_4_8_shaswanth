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74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35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9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9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4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9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1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0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0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6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95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6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776885-46CF-412C-96F2-082603A4554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2E847-1DE6-467A-9BED-8C203734F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6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4F8E-9B49-A158-1CED-FD8699AE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FCFD-C1C7-90EE-8837-3DA7C40C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2" y="820626"/>
            <a:ext cx="9050056" cy="1325563"/>
          </a:xfrm>
        </p:spPr>
        <p:txBody>
          <a:bodyPr>
            <a:noAutofit/>
          </a:bodyPr>
          <a:lstStyle/>
          <a:p>
            <a:r>
              <a:rPr lang="en-US" sz="1600" dirty="0"/>
              <a:t>Retail share classes often carry higher expense ratios or embedded distribution costs compared to institutional alternatives. These additional costs can reduce net returns over time, particularly in long-term holdings.</a:t>
            </a:r>
            <a:br>
              <a:rPr lang="en-US" sz="1600" dirty="0"/>
            </a:br>
            <a:r>
              <a:rPr lang="en-US" sz="1600" dirty="0"/>
              <a:t>Periodically reviewing available share class options can help determine whether lower-cost or more tax-efficient alternatives are accessible, given the account type, investment size, and platform.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F15AE-2AC8-E897-22AF-1904437AB16D}"/>
              </a:ext>
            </a:extLst>
          </p:cNvPr>
          <p:cNvSpPr/>
          <p:nvPr/>
        </p:nvSpPr>
        <p:spPr>
          <a:xfrm>
            <a:off x="0" y="14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/>
              <a:t>Retail Share Class</a:t>
            </a:r>
            <a:endParaRPr lang="en-US" sz="3600" dirty="0"/>
          </a:p>
        </p:txBody>
      </p:sp>
      <p:pic>
        <p:nvPicPr>
          <p:cNvPr id="5" name="Picture 2" descr="Northeastern Mutual Logo and symbol, meaning, history, PNG ...">
            <a:extLst>
              <a:ext uri="{FF2B5EF4-FFF2-40B4-BE49-F238E27FC236}">
                <a16:creationId xmlns:a16="http://schemas.microsoft.com/office/drawing/2014/main" id="{E4BDF49D-2D9B-74E1-E3BD-BEE1445C6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52" y="5909936"/>
            <a:ext cx="203200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01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65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Retail share classes often carry higher expense ratios or embedded distribution costs compared to institutional alternatives. These additional costs can reduce net returns over time, particularly in long-term holdings. Periodically reviewing available share class options can help determine whether lower-cost or more tax-efficient alternatives are accessible, given the account type, investment size, and platform.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Malek Daouk</dc:creator>
  <cp:lastModifiedBy>Malek Daouk</cp:lastModifiedBy>
  <cp:revision>1</cp:revision>
  <dcterms:created xsi:type="dcterms:W3CDTF">2026-01-06T19:54:52Z</dcterms:created>
  <dcterms:modified xsi:type="dcterms:W3CDTF">2026-01-06T19:55:59Z</dcterms:modified>
</cp:coreProperties>
</file>