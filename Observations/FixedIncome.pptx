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204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FD006B-C5E1-4C3B-8E59-7D0CA2AB307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2689789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FD006B-C5E1-4C3B-8E59-7D0CA2AB307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4258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FD006B-C5E1-4C3B-8E59-7D0CA2AB307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675045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FD006B-C5E1-4C3B-8E59-7D0CA2AB307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2809843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FD006B-C5E1-4C3B-8E59-7D0CA2AB3070}"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335897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FD006B-C5E1-4C3B-8E59-7D0CA2AB3070}"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173964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FD006B-C5E1-4C3B-8E59-7D0CA2AB3070}"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407725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FD006B-C5E1-4C3B-8E59-7D0CA2AB307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3349770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FD006B-C5E1-4C3B-8E59-7D0CA2AB3070}"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1586268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FD006B-C5E1-4C3B-8E59-7D0CA2AB307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1685598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FD006B-C5E1-4C3B-8E59-7D0CA2AB3070}"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6AE0D0-D53B-4688-8F9D-15EB6E631D36}" type="slidenum">
              <a:rPr lang="en-US" smtClean="0"/>
              <a:t>‹#›</a:t>
            </a:fld>
            <a:endParaRPr lang="en-US"/>
          </a:p>
        </p:txBody>
      </p:sp>
    </p:spTree>
    <p:extLst>
      <p:ext uri="{BB962C8B-B14F-4D97-AF65-F5344CB8AC3E}">
        <p14:creationId xmlns:p14="http://schemas.microsoft.com/office/powerpoint/2010/main" val="63550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FD006B-C5E1-4C3B-8E59-7D0CA2AB3070}" type="datetimeFigureOut">
              <a:rPr lang="en-US" smtClean="0"/>
              <a:t>1/17/2026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6AE0D0-D53B-4688-8F9D-15EB6E631D36}" type="slidenum">
              <a:rPr lang="en-US" smtClean="0"/>
              <a:t>‹#›</a:t>
            </a:fld>
            <a:endParaRPr lang="en-US"/>
          </a:p>
        </p:txBody>
      </p:sp>
    </p:spTree>
    <p:extLst>
      <p:ext uri="{BB962C8B-B14F-4D97-AF65-F5344CB8AC3E}">
        <p14:creationId xmlns:p14="http://schemas.microsoft.com/office/powerpoint/2010/main" val="543786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59473" y="806762"/>
            <a:ext cx="9203473" cy="1325563"/>
          </a:xfrm>
        </p:spPr>
        <p:txBody>
          <a:bodyPr>
            <a:noAutofit/>
          </a:bodyPr>
          <a:lstStyle/>
          <a:p>
            <a:r>
              <a:rPr lang="en-US" sz="1400" dirty="0"/>
              <a:t>The tables below summarize the portfolio’s fixed income exposure across several key dimensions, including yield, duration, issuer concentration, and credit quality.</a:t>
            </a:r>
            <a:br>
              <a:rPr lang="en-US" sz="1400" dirty="0"/>
            </a:br>
            <a:r>
              <a:rPr lang="en-US" sz="1400" dirty="0"/>
              <a:t>Yield reflects the level of income generated by the fixed income holdings. Duration measures how sensitive bond prices may be to changes in interest rates, with higher duration generally implying greater price movement when rates change.</a:t>
            </a:r>
            <a:br>
              <a:rPr lang="en-US" sz="1400" dirty="0"/>
            </a:br>
            <a:r>
              <a:rPr lang="en-US" sz="1400" dirty="0"/>
              <a:t>Issuer exposure highlights how concentrated the portfolio is among individual borrowers, while credit quality shows the mix between higher-quality and lower-quality bonds within the allocation.</a:t>
            </a:r>
            <a:br>
              <a:rPr lang="en-US" sz="1400" dirty="0"/>
            </a:br>
            <a:r>
              <a:rPr lang="en-US" sz="1400" dirty="0"/>
              <a:t>These factors are typically reviewed together to better understand the role fixed income plays within the overall portfolio.</a:t>
            </a:r>
          </a:p>
        </p:txBody>
      </p:sp>
      <p:sp>
        <p:nvSpPr>
          <p:cNvPr id="4" name="Rectangle 3">
            <a:extLst>
              <a:ext uri="{FF2B5EF4-FFF2-40B4-BE49-F238E27FC236}">
                <a16:creationId xmlns:a16="http://schemas.microsoft.com/office/drawing/2014/main" id="{1BCF15AE-2AC8-E897-22AF-1904437AB16D}"/>
              </a:ext>
            </a:extLst>
          </p:cNvPr>
          <p:cNvSpPr/>
          <p:nvPr/>
        </p:nvSpPr>
        <p:spPr>
          <a:xfrm>
            <a:off x="0" y="6"/>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b="1" dirty="0"/>
              <a:t>Fixed Income Exposure</a:t>
            </a:r>
          </a:p>
        </p:txBody>
      </p:sp>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117</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The tables below summarize the portfolio’s fixed income exposure across several key dimensions, including yield, duration, issuer concentration, and credit quality. Yield reflects the level of income generated by the fixed income holdings. Duration measures how sensitive bond prices may be to changes in interest rates, with higher duration generally implying greater price movement when rates change. Issuer exposure highlights how concentrated the portfolio is among individual borrowers, while credit quality shows the mix between higher-quality and lower-quality bonds within the allocation. These factors are typically reviewed together to better understand the role fixed income plays within the overall portfolio.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2026-01-18T04:16:51Z</dcterms:created>
  <dcterms:modified xsi:type="dcterms:W3CDTF">2026-01-18T04:20:32Z</dcterms:modified>
</cp:coreProperties>
</file>