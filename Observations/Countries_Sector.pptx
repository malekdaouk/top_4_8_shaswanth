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7" d="100"/>
          <a:sy n="57" d="100"/>
        </p:scale>
        <p:origin x="1564" y="1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640D7E-50B6-427C-B6F1-C774D4881A9C}"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3687224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640D7E-50B6-427C-B6F1-C774D4881A9C}"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3982256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640D7E-50B6-427C-B6F1-C774D4881A9C}"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3485410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640D7E-50B6-427C-B6F1-C774D4881A9C}"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4021189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D7E-50B6-427C-B6F1-C774D4881A9C}" type="datetimeFigureOut">
              <a:rPr lang="en-US" smtClean="0"/>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2271463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640D7E-50B6-427C-B6F1-C774D4881A9C}" type="datetimeFigureOut">
              <a:rPr lang="en-US" smtClean="0"/>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3259808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640D7E-50B6-427C-B6F1-C774D4881A9C}" type="datetimeFigureOut">
              <a:rPr lang="en-US" smtClean="0"/>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1399311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640D7E-50B6-427C-B6F1-C774D4881A9C}"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1082728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640D7E-50B6-427C-B6F1-C774D4881A9C}"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127669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640D7E-50B6-427C-B6F1-C774D4881A9C}"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2672550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640D7E-50B6-427C-B6F1-C774D4881A9C}"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9586F7-3D68-4A87-81FD-9EE19CF27132}" type="slidenum">
              <a:rPr lang="en-US" smtClean="0"/>
              <a:t>‹#›</a:t>
            </a:fld>
            <a:endParaRPr lang="en-US"/>
          </a:p>
        </p:txBody>
      </p:sp>
    </p:spTree>
    <p:extLst>
      <p:ext uri="{BB962C8B-B14F-4D97-AF65-F5344CB8AC3E}">
        <p14:creationId xmlns:p14="http://schemas.microsoft.com/office/powerpoint/2010/main" val="3497284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640D7E-50B6-427C-B6F1-C774D4881A9C}" type="datetimeFigureOut">
              <a:rPr lang="en-US" smtClean="0"/>
              <a:t>1/6/2026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9586F7-3D68-4A87-81FD-9EE19CF27132}" type="slidenum">
              <a:rPr lang="en-US" smtClean="0"/>
              <a:t>‹#›</a:t>
            </a:fld>
            <a:endParaRPr lang="en-US"/>
          </a:p>
        </p:txBody>
      </p:sp>
    </p:spTree>
    <p:extLst>
      <p:ext uri="{BB962C8B-B14F-4D97-AF65-F5344CB8AC3E}">
        <p14:creationId xmlns:p14="http://schemas.microsoft.com/office/powerpoint/2010/main" val="5975276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46972" y="820628"/>
            <a:ext cx="9050056" cy="1325563"/>
          </a:xfrm>
        </p:spPr>
        <p:txBody>
          <a:bodyPr>
            <a:noAutofit/>
          </a:bodyPr>
          <a:lstStyle/>
          <a:p>
            <a:r>
              <a:rPr lang="en-US" sz="1600" dirty="0"/>
              <a:t>Allocations to individual country and sector-specific funds can lead to more concentrated exposures compared to broader, diversified funds. While this approach may provide targeted access to specific markets or themes, it can also increase sensitivity to country- or sector-specific economic, regulatory, or geopolitical developments.</a:t>
            </a:r>
            <a:br>
              <a:rPr lang="en-US" sz="1600" dirty="0"/>
            </a:br>
            <a:r>
              <a:rPr lang="en-US" sz="1600" dirty="0"/>
              <a:t>Reviewing these positions in the context of the overall portfolio can help ensure that concentration levels remain intentional and aligned with the investor’s risk tolerance and diversification objectives.</a:t>
            </a:r>
          </a:p>
        </p:txBody>
      </p:sp>
      <p:sp>
        <p:nvSpPr>
          <p:cNvPr id="4" name="Rectangle 3">
            <a:extLst>
              <a:ext uri="{FF2B5EF4-FFF2-40B4-BE49-F238E27FC236}">
                <a16:creationId xmlns:a16="http://schemas.microsoft.com/office/drawing/2014/main" id="{1BCF15AE-2AC8-E897-22AF-1904437AB16D}"/>
              </a:ext>
            </a:extLst>
          </p:cNvPr>
          <p:cNvSpPr/>
          <p:nvPr/>
        </p:nvSpPr>
        <p:spPr>
          <a:xfrm>
            <a:off x="0" y="16"/>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a:t>Specific Exposure</a:t>
            </a:r>
            <a:endParaRPr lang="en-US" sz="3600" dirty="0"/>
          </a:p>
        </p:txBody>
      </p:sp>
    </p:spTree>
    <p:extLst>
      <p:ext uri="{BB962C8B-B14F-4D97-AF65-F5344CB8AC3E}">
        <p14:creationId xmlns:p14="http://schemas.microsoft.com/office/powerpoint/2010/main" val="86501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82</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Allocations to individual country and sector-specific funds can lead to more concentrated exposures compared to broader, diversified funds. While this approach may provide targeted access to specific markets or themes, it can also increase sensitivity to country- or sector-specific economic, regulatory, or geopolitical developments. Reviewing these positions in the context of the overall portfolio can help ensure that concentration levels remain intentional and aligned with the investor’s risk tolerance and diversification objectives.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cp:revision>
  <dcterms:created xsi:type="dcterms:W3CDTF">2026-01-06T20:01:10Z</dcterms:created>
  <dcterms:modified xsi:type="dcterms:W3CDTF">2026-01-06T20:02:22Z</dcterms:modified>
</cp:coreProperties>
</file>