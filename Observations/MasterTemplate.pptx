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5" r:id="rId7"/>
    <p:sldId id="266" r:id="rId8"/>
    <p:sldId id="267" r:id="rId9"/>
    <p:sldId id="268" r:id="rId10"/>
    <p:sldId id="289" r:id="rId11"/>
    <p:sldId id="270" r:id="rId12"/>
    <p:sldId id="288" r:id="rId13"/>
    <p:sldId id="286" r:id="rId14"/>
    <p:sldId id="285" r:id="rId15"/>
    <p:sldId id="272" r:id="rId16"/>
    <p:sldId id="271" r:id="rId17"/>
    <p:sldId id="273" r:id="rId18"/>
    <p:sldId id="264" r:id="rId19"/>
    <p:sldId id="274" r:id="rId20"/>
    <p:sldId id="284" r:id="rId21"/>
    <p:sldId id="281" r:id="rId22"/>
    <p:sldId id="283" r:id="rId23"/>
    <p:sldId id="287" r:id="rId24"/>
    <p:sldId id="282" r:id="rId25"/>
    <p:sldId id="276" r:id="rId26"/>
    <p:sldId id="277" r:id="rId27"/>
    <p:sldId id="278" r:id="rId28"/>
    <p:sldId id="279" r:id="rId29"/>
    <p:sldId id="280"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1" d="100"/>
          <a:sy n="51" d="100"/>
        </p:scale>
        <p:origin x="174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7A5CD1-267D-4F26-B3F9-D42C52121ADC}"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146103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A5CD1-267D-4F26-B3F9-D42C52121ADC}"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387549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7A5CD1-267D-4F26-B3F9-D42C52121ADC}"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2914015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7A5CD1-267D-4F26-B3F9-D42C52121ADC}"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1735387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7A5CD1-267D-4F26-B3F9-D42C52121ADC}"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1004212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7A5CD1-267D-4F26-B3F9-D42C52121ADC}"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3677686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7A5CD1-267D-4F26-B3F9-D42C52121ADC}"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3715819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7A5CD1-267D-4F26-B3F9-D42C52121ADC}"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133437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7A5CD1-267D-4F26-B3F9-D42C52121ADC}"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2539576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A5CD1-267D-4F26-B3F9-D42C52121ADC}"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215531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A5CD1-267D-4F26-B3F9-D42C52121ADC}"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4C8E1-0560-4349-9667-CEB2AF66FF28}" type="slidenum">
              <a:rPr lang="en-US" smtClean="0"/>
              <a:t>‹#›</a:t>
            </a:fld>
            <a:endParaRPr lang="en-US"/>
          </a:p>
        </p:txBody>
      </p:sp>
    </p:spTree>
    <p:extLst>
      <p:ext uri="{BB962C8B-B14F-4D97-AF65-F5344CB8AC3E}">
        <p14:creationId xmlns:p14="http://schemas.microsoft.com/office/powerpoint/2010/main" val="108398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7A5CD1-267D-4F26-B3F9-D42C52121ADC}" type="datetimeFigureOut">
              <a:rPr lang="en-US" smtClean="0"/>
              <a:t>3/3/2026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04C8E1-0560-4349-9667-CEB2AF66FF28}" type="slidenum">
              <a:rPr lang="en-US" smtClean="0"/>
              <a:t>‹#›</a:t>
            </a:fld>
            <a:endParaRPr lang="en-US"/>
          </a:p>
        </p:txBody>
      </p:sp>
    </p:spTree>
    <p:extLst>
      <p:ext uri="{BB962C8B-B14F-4D97-AF65-F5344CB8AC3E}">
        <p14:creationId xmlns:p14="http://schemas.microsoft.com/office/powerpoint/2010/main" val="14550961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2D6BDD8-9CFB-DD41-857F-AEB3F38FB577}"/>
              </a:ext>
            </a:extLst>
          </p:cNvPr>
          <p:cNvSpPr txBox="1">
            <a:spLocks noGrp="1"/>
          </p:cNvSpPr>
          <p:nvPr>
            <p:ph type="ctrTitle"/>
          </p:nvPr>
        </p:nvSpPr>
        <p:spPr>
          <a:xfrm>
            <a:off x="685800" y="2366963"/>
            <a:ext cx="7772400" cy="1143001"/>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endParaRPr lang="en-US" sz="6600" b="1" dirty="0">
              <a:solidFill>
                <a:srgbClr val="163E64"/>
              </a:solidFill>
            </a:endParaRPr>
          </a:p>
        </p:txBody>
      </p:sp>
      <p:sp>
        <p:nvSpPr>
          <p:cNvPr id="3" name="Subtitle 2">
            <a:extLst>
              <a:ext uri="{FF2B5EF4-FFF2-40B4-BE49-F238E27FC236}">
                <a16:creationId xmlns:a16="http://schemas.microsoft.com/office/drawing/2014/main" id="{E9F97816-C930-2D54-241E-9D12D926CCF9}"/>
              </a:ext>
            </a:extLst>
          </p:cNvPr>
          <p:cNvSpPr>
            <a:spLocks noGrp="1"/>
          </p:cNvSpPr>
          <p:nvPr>
            <p:ph type="subTitle" idx="1"/>
          </p:nvPr>
        </p:nvSpPr>
        <p:spPr>
          <a:xfrm>
            <a:off x="1143000" y="3797247"/>
            <a:ext cx="6858000" cy="1655762"/>
          </a:xfrm>
        </p:spPr>
        <p:txBody>
          <a:bodyPr>
            <a:normAutofit/>
          </a:bodyPr>
          <a:lstStyle/>
          <a:p>
            <a:r>
              <a:rPr lang="en-US" sz="2000" b="1" spc="-50" dirty="0">
                <a:solidFill>
                  <a:srgbClr val="163E64"/>
                </a:solidFill>
                <a:latin typeface="+mj-lt"/>
                <a:ea typeface="+mj-ea"/>
                <a:cs typeface="+mj-cs"/>
              </a:rPr>
              <a:t>Advisor: </a:t>
            </a:r>
          </a:p>
          <a:p>
            <a:r>
              <a:rPr lang="en-US" sz="2000" b="1" spc="-50" dirty="0">
                <a:solidFill>
                  <a:srgbClr val="163E64"/>
                </a:solidFill>
                <a:latin typeface="+mj-lt"/>
                <a:ea typeface="+mj-ea"/>
                <a:cs typeface="+mj-cs"/>
              </a:rPr>
              <a:t>Prepared by: </a:t>
            </a:r>
          </a:p>
          <a:p>
            <a:r>
              <a:rPr lang="en-US" sz="2000" b="1" spc="-50" dirty="0">
                <a:solidFill>
                  <a:srgbClr val="163E64"/>
                </a:solidFill>
                <a:latin typeface="+mj-lt"/>
                <a:ea typeface="+mj-ea"/>
                <a:cs typeface="+mj-cs"/>
              </a:rPr>
              <a:t>Date:</a:t>
            </a:r>
          </a:p>
        </p:txBody>
      </p:sp>
      <p:sp>
        <p:nvSpPr>
          <p:cNvPr id="4" name="Rectangle 3">
            <a:extLst>
              <a:ext uri="{FF2B5EF4-FFF2-40B4-BE49-F238E27FC236}">
                <a16:creationId xmlns:a16="http://schemas.microsoft.com/office/drawing/2014/main" id="{056953F7-79BA-0323-01C7-1FD291D3DC3C}"/>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63E64"/>
              </a:solidFill>
            </a:endParaRPr>
          </a:p>
        </p:txBody>
      </p:sp>
      <p:sp>
        <p:nvSpPr>
          <p:cNvPr id="7" name="Title 1">
            <a:extLst>
              <a:ext uri="{FF2B5EF4-FFF2-40B4-BE49-F238E27FC236}">
                <a16:creationId xmlns:a16="http://schemas.microsoft.com/office/drawing/2014/main" id="{30AA2351-24E5-49B1-7709-EF27DE26FB89}"/>
              </a:ext>
            </a:extLst>
          </p:cNvPr>
          <p:cNvSpPr txBox="1">
            <a:spLocks/>
          </p:cNvSpPr>
          <p:nvPr/>
        </p:nvSpPr>
        <p:spPr>
          <a:xfrm>
            <a:off x="685800" y="1223962"/>
            <a:ext cx="7772400" cy="114300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US" sz="6000" b="1" dirty="0">
                <a:solidFill>
                  <a:srgbClr val="163E64"/>
                </a:solidFill>
              </a:rPr>
              <a:t>Investment Proposal</a:t>
            </a:r>
          </a:p>
        </p:txBody>
      </p:sp>
    </p:spTree>
    <p:extLst>
      <p:ext uri="{BB962C8B-B14F-4D97-AF65-F5344CB8AC3E}">
        <p14:creationId xmlns:p14="http://schemas.microsoft.com/office/powerpoint/2010/main" val="2228072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4C3A0C-B539-8CA8-176E-7AD902D6F51D}"/>
              </a:ext>
            </a:extLst>
          </p:cNvPr>
          <p:cNvSpPr/>
          <p:nvPr/>
        </p:nvSpPr>
        <p:spPr>
          <a:xfrm>
            <a:off x="0" y="0"/>
            <a:ext cx="9144000" cy="651353"/>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829B18A5-4BFC-AD05-4953-5B209F57F6F5}"/>
              </a:ext>
            </a:extLst>
          </p:cNvPr>
          <p:cNvSpPr>
            <a:spLocks noGrp="1"/>
          </p:cNvSpPr>
          <p:nvPr>
            <p:ph type="title"/>
          </p:nvPr>
        </p:nvSpPr>
        <p:spPr>
          <a:xfrm>
            <a:off x="0" y="-298623"/>
            <a:ext cx="7886700" cy="1325563"/>
          </a:xfrm>
        </p:spPr>
        <p:txBody>
          <a:bodyPr>
            <a:normAutofit/>
          </a:bodyPr>
          <a:lstStyle/>
          <a:p>
            <a:r>
              <a:rPr lang="en-US" sz="3600" b="1" dirty="0">
                <a:solidFill>
                  <a:schemeClr val="bg1"/>
                </a:solidFill>
              </a:rPr>
              <a:t>Emotions In Investing</a:t>
            </a:r>
          </a:p>
        </p:txBody>
      </p:sp>
      <p:pic>
        <p:nvPicPr>
          <p:cNvPr id="6" name="Content Placeholder 5">
            <a:extLst>
              <a:ext uri="{FF2B5EF4-FFF2-40B4-BE49-F238E27FC236}">
                <a16:creationId xmlns:a16="http://schemas.microsoft.com/office/drawing/2014/main" id="{E16B3F67-266A-E092-3658-8C2B463072F7}"/>
              </a:ext>
            </a:extLst>
          </p:cNvPr>
          <p:cNvPicPr>
            <a:picLocks noGrp="1" noChangeAspect="1"/>
          </p:cNvPicPr>
          <p:nvPr>
            <p:ph idx="1"/>
          </p:nvPr>
        </p:nvPicPr>
        <p:blipFill>
          <a:blip r:embed="rId2"/>
          <a:stretch>
            <a:fillRect/>
          </a:stretch>
        </p:blipFill>
        <p:spPr>
          <a:xfrm>
            <a:off x="628650" y="1966106"/>
            <a:ext cx="7886700" cy="4070376"/>
          </a:xfrm>
          <a:prstGeom prst="rect">
            <a:avLst/>
          </a:prstGeom>
        </p:spPr>
      </p:pic>
    </p:spTree>
    <p:extLst>
      <p:ext uri="{BB962C8B-B14F-4D97-AF65-F5344CB8AC3E}">
        <p14:creationId xmlns:p14="http://schemas.microsoft.com/office/powerpoint/2010/main" val="3615536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403C7-FB55-18BA-4A76-6193052A1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120D1-0BE9-BB3E-3320-A9A3D60772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6669A0-45F9-1C80-941F-1E709B7AAD0C}"/>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CAC0E95B-F4AE-7A7C-A72D-113D6997778C}"/>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Shifting Market Leadership</a:t>
            </a:r>
          </a:p>
        </p:txBody>
      </p:sp>
      <p:pic>
        <p:nvPicPr>
          <p:cNvPr id="6" name="Picture 2" descr="Annual Asset Class Returns • Novel Investor">
            <a:extLst>
              <a:ext uri="{FF2B5EF4-FFF2-40B4-BE49-F238E27FC236}">
                <a16:creationId xmlns:a16="http://schemas.microsoft.com/office/drawing/2014/main" id="{6F71224A-EF0E-E01A-A9E8-291F5D75332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5243"/>
          <a:stretch>
            <a:fillRect/>
          </a:stretch>
        </p:blipFill>
        <p:spPr bwMode="auto">
          <a:xfrm>
            <a:off x="368297" y="741366"/>
            <a:ext cx="7956468" cy="5435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509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CBC72-8255-A7A8-0BA1-8F98C6C68F5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D8583A6-4211-8FD0-9074-7604EF2C5400}"/>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5E313340-0127-D8E9-0CB5-3D284283B2D9}"/>
              </a:ext>
            </a:extLst>
          </p:cNvPr>
          <p:cNvSpPr>
            <a:spLocks noGrp="1"/>
          </p:cNvSpPr>
          <p:nvPr>
            <p:ph type="title"/>
          </p:nvPr>
        </p:nvSpPr>
        <p:spPr>
          <a:xfrm>
            <a:off x="0" y="-343369"/>
            <a:ext cx="7886700" cy="1325563"/>
          </a:xfrm>
        </p:spPr>
        <p:txBody>
          <a:bodyPr>
            <a:normAutofit/>
          </a:bodyPr>
          <a:lstStyle/>
          <a:p>
            <a:r>
              <a:rPr lang="en-US" sz="3600" b="1" dirty="0">
                <a:solidFill>
                  <a:schemeClr val="bg1"/>
                </a:solidFill>
              </a:rPr>
              <a:t>The Importance Of Investing Early</a:t>
            </a:r>
          </a:p>
        </p:txBody>
      </p:sp>
      <p:pic>
        <p:nvPicPr>
          <p:cNvPr id="6" name="Content Placeholder 5">
            <a:extLst>
              <a:ext uri="{FF2B5EF4-FFF2-40B4-BE49-F238E27FC236}">
                <a16:creationId xmlns:a16="http://schemas.microsoft.com/office/drawing/2014/main" id="{972AF6DB-B480-596C-989A-5E5DAD1926A0}"/>
              </a:ext>
            </a:extLst>
          </p:cNvPr>
          <p:cNvPicPr>
            <a:picLocks noGrp="1" noChangeAspect="1"/>
          </p:cNvPicPr>
          <p:nvPr>
            <p:ph idx="1"/>
          </p:nvPr>
        </p:nvPicPr>
        <p:blipFill>
          <a:blip r:embed="rId2"/>
          <a:stretch>
            <a:fillRect/>
          </a:stretch>
        </p:blipFill>
        <p:spPr>
          <a:xfrm>
            <a:off x="703661" y="1825625"/>
            <a:ext cx="7736678" cy="4351338"/>
          </a:xfrm>
          <a:prstGeom prst="rect">
            <a:avLst/>
          </a:prstGeom>
        </p:spPr>
      </p:pic>
    </p:spTree>
    <p:extLst>
      <p:ext uri="{BB962C8B-B14F-4D97-AF65-F5344CB8AC3E}">
        <p14:creationId xmlns:p14="http://schemas.microsoft.com/office/powerpoint/2010/main" val="3087212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C0801-78BB-1BAA-E345-794091F81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F8C20-0E77-B78C-F006-312D19C2EBE0}"/>
              </a:ext>
            </a:extLst>
          </p:cNvPr>
          <p:cNvSpPr>
            <a:spLocks noGrp="1"/>
          </p:cNvSpPr>
          <p:nvPr>
            <p:ph type="title"/>
          </p:nvPr>
        </p:nvSpPr>
        <p:spPr/>
        <p:txBody>
          <a:bodyPr/>
          <a:lstStyle/>
          <a:p>
            <a:endParaRPr lang="en-US"/>
          </a:p>
        </p:txBody>
      </p:sp>
      <p:pic>
        <p:nvPicPr>
          <p:cNvPr id="6" name="Picture 2" descr="Maximizing an HSA for health care expenses">
            <a:extLst>
              <a:ext uri="{FF2B5EF4-FFF2-40B4-BE49-F238E27FC236}">
                <a16:creationId xmlns:a16="http://schemas.microsoft.com/office/drawing/2014/main" id="{6A076277-A236-5EC1-B183-41A9571066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03661" y="1825625"/>
            <a:ext cx="7736678"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FCED2EE-70E5-9E25-BE45-6710E96983D4}"/>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The Benefits of HSA Accounts</a:t>
            </a:r>
          </a:p>
        </p:txBody>
      </p:sp>
    </p:spTree>
    <p:extLst>
      <p:ext uri="{BB962C8B-B14F-4D97-AF65-F5344CB8AC3E}">
        <p14:creationId xmlns:p14="http://schemas.microsoft.com/office/powerpoint/2010/main" val="442396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CF15AE-2AC8-E897-22AF-1904437AB16D}"/>
              </a:ext>
            </a:extLst>
          </p:cNvPr>
          <p:cNvSpPr/>
          <p:nvPr/>
        </p:nvSpPr>
        <p:spPr>
          <a:xfrm>
            <a:off x="0" y="24"/>
            <a:ext cx="9144000" cy="560415"/>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Global Asset Allocation</a:t>
            </a:r>
          </a:p>
        </p:txBody>
      </p:sp>
      <p:sp>
        <p:nvSpPr>
          <p:cNvPr id="8" name="Title 4">
            <a:extLst>
              <a:ext uri="{FF2B5EF4-FFF2-40B4-BE49-F238E27FC236}">
                <a16:creationId xmlns:a16="http://schemas.microsoft.com/office/drawing/2014/main" id="{C85F7EA1-6295-332C-B835-7CBAC7506701}"/>
              </a:ext>
            </a:extLst>
          </p:cNvPr>
          <p:cNvSpPr txBox="1">
            <a:spLocks/>
          </p:cNvSpPr>
          <p:nvPr/>
        </p:nvSpPr>
        <p:spPr>
          <a:xfrm>
            <a:off x="140135" y="3670127"/>
            <a:ext cx="7886700" cy="3757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600" b="1" u="sng" dirty="0"/>
          </a:p>
        </p:txBody>
      </p:sp>
    </p:spTree>
    <p:extLst>
      <p:ext uri="{BB962C8B-B14F-4D97-AF65-F5344CB8AC3E}">
        <p14:creationId xmlns:p14="http://schemas.microsoft.com/office/powerpoint/2010/main" val="86501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CF15AE-2AC8-E897-22AF-1904437AB16D}"/>
              </a:ext>
            </a:extLst>
          </p:cNvPr>
          <p:cNvSpPr/>
          <p:nvPr/>
        </p:nvSpPr>
        <p:spPr>
          <a:xfrm>
            <a:off x="0" y="24"/>
            <a:ext cx="9144000" cy="341335"/>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t>Global </a:t>
            </a:r>
            <a:r>
              <a:rPr lang="en-US" sz="2800"/>
              <a:t>Asset Allocation </a:t>
            </a:r>
            <a:endParaRPr lang="en-US" sz="2800" dirty="0"/>
          </a:p>
        </p:txBody>
      </p:sp>
      <p:sp>
        <p:nvSpPr>
          <p:cNvPr id="5" name="Title 4">
            <a:extLst>
              <a:ext uri="{FF2B5EF4-FFF2-40B4-BE49-F238E27FC236}">
                <a16:creationId xmlns:a16="http://schemas.microsoft.com/office/drawing/2014/main" id="{88931FEF-9FF5-6122-F20A-CED66C496530}"/>
              </a:ext>
            </a:extLst>
          </p:cNvPr>
          <p:cNvSpPr>
            <a:spLocks noGrp="1"/>
          </p:cNvSpPr>
          <p:nvPr>
            <p:ph type="title"/>
          </p:nvPr>
        </p:nvSpPr>
        <p:spPr>
          <a:xfrm>
            <a:off x="0" y="170691"/>
            <a:ext cx="7886700" cy="638828"/>
          </a:xfrm>
        </p:spPr>
        <p:txBody>
          <a:bodyPr>
            <a:normAutofit/>
          </a:bodyPr>
          <a:lstStyle/>
          <a:p>
            <a:r>
              <a:rPr lang="en-US" sz="1200" b="1" u="sng" dirty="0"/>
              <a:t>Qualified Accounts:</a:t>
            </a:r>
          </a:p>
        </p:txBody>
      </p:sp>
      <p:sp>
        <p:nvSpPr>
          <p:cNvPr id="8" name="Title 4">
            <a:extLst>
              <a:ext uri="{FF2B5EF4-FFF2-40B4-BE49-F238E27FC236}">
                <a16:creationId xmlns:a16="http://schemas.microsoft.com/office/drawing/2014/main" id="{C85F7EA1-6295-332C-B835-7CBAC7506701}"/>
              </a:ext>
            </a:extLst>
          </p:cNvPr>
          <p:cNvSpPr txBox="1">
            <a:spLocks/>
          </p:cNvSpPr>
          <p:nvPr/>
        </p:nvSpPr>
        <p:spPr>
          <a:xfrm>
            <a:off x="0" y="3429000"/>
            <a:ext cx="7886700" cy="3413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200" b="1" u="sng" dirty="0"/>
              <a:t>Non-Qualified Accounts:</a:t>
            </a:r>
          </a:p>
        </p:txBody>
      </p:sp>
    </p:spTree>
    <p:extLst>
      <p:ext uri="{BB962C8B-B14F-4D97-AF65-F5344CB8AC3E}">
        <p14:creationId xmlns:p14="http://schemas.microsoft.com/office/powerpoint/2010/main" val="431875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CF15AE-2AC8-E897-22AF-1904437AB16D}"/>
              </a:ext>
            </a:extLst>
          </p:cNvPr>
          <p:cNvSpPr/>
          <p:nvPr/>
        </p:nvSpPr>
        <p:spPr>
          <a:xfrm>
            <a:off x="0" y="6"/>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Portfolio Overview</a:t>
            </a:r>
          </a:p>
        </p:txBody>
      </p:sp>
    </p:spTree>
    <p:extLst>
      <p:ext uri="{BB962C8B-B14F-4D97-AF65-F5344CB8AC3E}">
        <p14:creationId xmlns:p14="http://schemas.microsoft.com/office/powerpoint/2010/main" val="4137895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0" y="883250"/>
            <a:ext cx="8805797" cy="1325563"/>
          </a:xfrm>
        </p:spPr>
        <p:txBody>
          <a:bodyPr>
            <a:noAutofit/>
          </a:bodyPr>
          <a:lstStyle/>
          <a:p>
            <a:r>
              <a:rPr lang="en-US" sz="1600" dirty="0"/>
              <a:t>Tracking error measures how closely an investment follows its stated benchmark, and elevated tracking error can indicate meaningful deviations in performance relative to the index. These differences may arise from active management decisions, portfolio construction, or implementation costs.</a:t>
            </a:r>
            <a:br>
              <a:rPr lang="en-US" sz="1600" dirty="0"/>
            </a:br>
            <a:r>
              <a:rPr lang="en-US" sz="1600" dirty="0"/>
              <a:t>Reviewing tracking error alongside performance can provide additional context on how consistently a strategy behaves versus expectations. This helps clarify whether returns are being driven by intentional active risk or by unintended divergence from the benchmark.</a:t>
            </a:r>
          </a:p>
        </p:txBody>
      </p:sp>
      <p:sp>
        <p:nvSpPr>
          <p:cNvPr id="4" name="Rectangle 3">
            <a:extLst>
              <a:ext uri="{FF2B5EF4-FFF2-40B4-BE49-F238E27FC236}">
                <a16:creationId xmlns:a16="http://schemas.microsoft.com/office/drawing/2014/main" id="{1BCF15AE-2AC8-E897-22AF-1904437AB16D}"/>
              </a:ext>
            </a:extLst>
          </p:cNvPr>
          <p:cNvSpPr/>
          <p:nvPr/>
        </p:nvSpPr>
        <p:spPr>
          <a:xfrm>
            <a:off x="0" y="8"/>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Tracking Error</a:t>
            </a:r>
          </a:p>
        </p:txBody>
      </p:sp>
    </p:spTree>
    <p:extLst>
      <p:ext uri="{BB962C8B-B14F-4D97-AF65-F5344CB8AC3E}">
        <p14:creationId xmlns:p14="http://schemas.microsoft.com/office/powerpoint/2010/main" val="170444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18603-7A90-E5DB-B2BA-69BE0F6D4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F0352-77DA-09E0-DE9B-5E9DAEF90CE7}"/>
              </a:ext>
            </a:extLst>
          </p:cNvPr>
          <p:cNvSpPr>
            <a:spLocks noGrp="1"/>
          </p:cNvSpPr>
          <p:nvPr>
            <p:ph type="title"/>
          </p:nvPr>
        </p:nvSpPr>
        <p:spPr>
          <a:xfrm>
            <a:off x="0" y="895951"/>
            <a:ext cx="9144000" cy="1325563"/>
          </a:xfrm>
        </p:spPr>
        <p:txBody>
          <a:bodyPr>
            <a:noAutofit/>
          </a:bodyPr>
          <a:lstStyle/>
          <a:p>
            <a:r>
              <a:rPr lang="en-US" sz="1200" dirty="0"/>
              <a:t>The expense ratio represents the annual cost a mutual fund or ETF charges to operate and manage the portfolio. This fee is deducted directly from the fund’s performance each year, and therefore reduces the return realized by the investor.</a:t>
            </a:r>
            <a:br>
              <a:rPr lang="en-US" sz="1200" dirty="0"/>
            </a:br>
            <a:br>
              <a:rPr lang="en-US" sz="1200" dirty="0"/>
            </a:br>
            <a:r>
              <a:rPr lang="en-US" sz="1200" dirty="0"/>
              <a:t>Higher expense ratios create a persistent performance drag. Over time, even small differences can materially impact long-term results due to compounding. Importantly, higher fees do not necessarily lead to better performance; many higher-cost funds have difficulty outperforming comparable, lower-cost strategies on a net-of-fee basis</a:t>
            </a:r>
          </a:p>
        </p:txBody>
      </p:sp>
      <p:sp>
        <p:nvSpPr>
          <p:cNvPr id="4" name="Rectangle 3">
            <a:extLst>
              <a:ext uri="{FF2B5EF4-FFF2-40B4-BE49-F238E27FC236}">
                <a16:creationId xmlns:a16="http://schemas.microsoft.com/office/drawing/2014/main" id="{48D83859-020A-E6A2-B5A7-196F05891F7B}"/>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Expense Ratio</a:t>
            </a:r>
          </a:p>
        </p:txBody>
      </p:sp>
      <p:sp>
        <p:nvSpPr>
          <p:cNvPr id="6" name="Content Placeholder 5">
            <a:extLst>
              <a:ext uri="{FF2B5EF4-FFF2-40B4-BE49-F238E27FC236}">
                <a16:creationId xmlns:a16="http://schemas.microsoft.com/office/drawing/2014/main" id="{1C6CADCA-ACF2-7DC5-4077-216D27B9DBA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99669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0" y="885420"/>
            <a:ext cx="9055988" cy="1325563"/>
          </a:xfrm>
        </p:spPr>
        <p:txBody>
          <a:bodyPr>
            <a:noAutofit/>
          </a:bodyPr>
          <a:lstStyle/>
          <a:p>
            <a:r>
              <a:rPr lang="en-US" sz="1400" dirty="0"/>
              <a:t>In some cases, advisors or broker-dealers may have business relationships with certain investment providers or offer proprietary products. While this is not inherently inappropriate, it can create situations where there may be an incentive to favor specific fund families or in-house products over other available options.</a:t>
            </a:r>
            <a:br>
              <a:rPr lang="en-US" sz="1400" dirty="0"/>
            </a:br>
            <a:br>
              <a:rPr lang="en-US" sz="1400" dirty="0"/>
            </a:br>
            <a:r>
              <a:rPr lang="en-US" sz="1400" dirty="0"/>
              <a:t>Because of this, it is important for investors to understand how investment recommendations are made and whether compensation structures, revenue sharing, or firm affiliations may influence product selection. Evaluating investments based on cost, performance, fit within the portfolio, and alignment with the client’s goals helps promote more objective decision-making and stronger long-term outcomes.</a:t>
            </a:r>
          </a:p>
        </p:txBody>
      </p:sp>
      <p:sp>
        <p:nvSpPr>
          <p:cNvPr id="4" name="Rectangle 3">
            <a:extLst>
              <a:ext uri="{FF2B5EF4-FFF2-40B4-BE49-F238E27FC236}">
                <a16:creationId xmlns:a16="http://schemas.microsoft.com/office/drawing/2014/main" id="{1BCF15AE-2AC8-E897-22AF-1904437AB16D}"/>
              </a:ext>
            </a:extLst>
          </p:cNvPr>
          <p:cNvSpPr/>
          <p:nvPr/>
        </p:nvSpPr>
        <p:spPr>
          <a:xfrm>
            <a:off x="0" y="6"/>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Potential Conflict Of Interest</a:t>
            </a:r>
          </a:p>
        </p:txBody>
      </p:sp>
      <p:pic>
        <p:nvPicPr>
          <p:cNvPr id="5" name="Picture 4">
            <a:extLst>
              <a:ext uri="{FF2B5EF4-FFF2-40B4-BE49-F238E27FC236}">
                <a16:creationId xmlns:a16="http://schemas.microsoft.com/office/drawing/2014/main" id="{A323327C-F0C6-AC49-E912-DEAB34B8C3F3}"/>
              </a:ext>
            </a:extLst>
          </p:cNvPr>
          <p:cNvPicPr>
            <a:picLocks noChangeAspect="1"/>
          </p:cNvPicPr>
          <p:nvPr/>
        </p:nvPicPr>
        <p:blipFill>
          <a:blip r:embed="rId2"/>
          <a:srcRect b="2890"/>
          <a:stretch>
            <a:fillRect/>
          </a:stretch>
        </p:blipFill>
        <p:spPr>
          <a:xfrm>
            <a:off x="1412222" y="5811765"/>
            <a:ext cx="5473981" cy="795512"/>
          </a:xfrm>
          <a:prstGeom prst="rect">
            <a:avLst/>
          </a:prstGeom>
        </p:spPr>
      </p:pic>
    </p:spTree>
    <p:extLst>
      <p:ext uri="{BB962C8B-B14F-4D97-AF65-F5344CB8AC3E}">
        <p14:creationId xmlns:p14="http://schemas.microsoft.com/office/powerpoint/2010/main" val="3336431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BB391-29C5-4931-3A3D-6DCDB3379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362F9-840E-3BA2-8E81-2249ABF60961}"/>
              </a:ext>
            </a:extLst>
          </p:cNvPr>
          <p:cNvSpPr>
            <a:spLocks noGrp="1"/>
          </p:cNvSpPr>
          <p:nvPr>
            <p:ph type="title"/>
          </p:nvPr>
        </p:nvSpPr>
        <p:spPr>
          <a:xfrm>
            <a:off x="0" y="895951"/>
            <a:ext cx="9144000" cy="1325563"/>
          </a:xfrm>
        </p:spPr>
        <p:txBody>
          <a:bodyPr>
            <a:noAutofit/>
          </a:bodyPr>
          <a:lstStyle/>
          <a:p>
            <a:r>
              <a:rPr lang="en-US" sz="1400" dirty="0"/>
              <a:t>The Tax Cost Ratio measures how much a fund’s annual return is reduced by taxes. It shows the percentage of a fund’s performance that is lost due to taxable distributions—such as interest, dividends, and capital gains—each year.</a:t>
            </a:r>
            <a:br>
              <a:rPr lang="en-US" sz="1400" dirty="0"/>
            </a:br>
            <a:br>
              <a:rPr lang="en-US" sz="1400" dirty="0"/>
            </a:br>
            <a:r>
              <a:rPr lang="en-US" sz="1400" dirty="0"/>
              <a:t>If a fund earns 6% before tax, and the investor keeps 4.8% after tax, the tax cost ratio is 1.2% (20% of the return lost in taxes).</a:t>
            </a:r>
            <a:br>
              <a:rPr lang="en-US" sz="1400" dirty="0"/>
            </a:br>
            <a:br>
              <a:rPr lang="en-US" sz="1400" dirty="0"/>
            </a:br>
            <a:r>
              <a:rPr lang="en-US" sz="1400" dirty="0"/>
              <a:t>A high tax cost ratio means the investment is creating large taxable distributions each year, reducing how much of the return the investor actually keeps. </a:t>
            </a:r>
          </a:p>
        </p:txBody>
      </p:sp>
      <p:sp>
        <p:nvSpPr>
          <p:cNvPr id="6" name="Content Placeholder 5">
            <a:extLst>
              <a:ext uri="{FF2B5EF4-FFF2-40B4-BE49-F238E27FC236}">
                <a16:creationId xmlns:a16="http://schemas.microsoft.com/office/drawing/2014/main" id="{C06B2BFC-FAB2-4E29-BF40-CCE80C1E2D2E}"/>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1FF0ABA7-0B2B-5300-402A-42C91064A168}"/>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Tax Cost Ratio</a:t>
            </a:r>
          </a:p>
        </p:txBody>
      </p:sp>
      <p:pic>
        <p:nvPicPr>
          <p:cNvPr id="12290" name="Picture 2" descr="Graph of hypothetical growth of USD 500,000">
            <a:extLst>
              <a:ext uri="{FF2B5EF4-FFF2-40B4-BE49-F238E27FC236}">
                <a16:creationId xmlns:a16="http://schemas.microsoft.com/office/drawing/2014/main" id="{D4393B53-83A6-F0DB-3523-09659A84F9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052"/>
          <a:stretch>
            <a:fillRect/>
          </a:stretch>
        </p:blipFill>
        <p:spPr bwMode="auto">
          <a:xfrm>
            <a:off x="2297126" y="4150894"/>
            <a:ext cx="4549748" cy="2574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639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5" y="1208925"/>
            <a:ext cx="9018739" cy="1325563"/>
          </a:xfrm>
        </p:spPr>
        <p:txBody>
          <a:bodyPr>
            <a:noAutofit/>
          </a:bodyPr>
          <a:lstStyle/>
          <a:p>
            <a:r>
              <a:rPr lang="en-US" sz="1600" dirty="0"/>
              <a:t>Municipal bonds are generally not well-suited for tax-advantaged (qualified) accounts, such as IRAs or retirement plans. The primary benefit of municipal bonds is their tax-free interest, but that advantage is largely lost inside a qualified account where income is already tax-deferred or tax-free.</a:t>
            </a:r>
            <a:br>
              <a:rPr lang="en-US" sz="1600" dirty="0"/>
            </a:br>
            <a:r>
              <a:rPr lang="en-US" sz="1600" dirty="0"/>
              <a:t>As a result, investors may accept a lower yield without receiving any additional tax benefit. This can reduce overall income potential and lead to a lower long-term return compared to holding higher-yielding taxable bonds in the same account.</a:t>
            </a:r>
            <a:br>
              <a:rPr lang="en-US" sz="1600" dirty="0"/>
            </a:br>
            <a:r>
              <a:rPr lang="en-US" sz="1600" dirty="0"/>
              <a:t>For this reason, municipal bonds are typically more effective in non-qualified accounts, while taxable bonds are better positioned inside qualified accounts to maximize after-tax portfolio efficiency.</a:t>
            </a:r>
          </a:p>
        </p:txBody>
      </p:sp>
      <p:sp>
        <p:nvSpPr>
          <p:cNvPr id="4" name="Rectangle 3">
            <a:extLst>
              <a:ext uri="{FF2B5EF4-FFF2-40B4-BE49-F238E27FC236}">
                <a16:creationId xmlns:a16="http://schemas.microsoft.com/office/drawing/2014/main" id="{1BCF15AE-2AC8-E897-22AF-1904437AB16D}"/>
              </a:ext>
            </a:extLst>
          </p:cNvPr>
          <p:cNvSpPr/>
          <p:nvPr/>
        </p:nvSpPr>
        <p:spPr>
          <a:xfrm>
            <a:off x="0" y="6"/>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Muni Bonds in Qualified Accounts</a:t>
            </a:r>
          </a:p>
        </p:txBody>
      </p:sp>
    </p:spTree>
    <p:extLst>
      <p:ext uri="{BB962C8B-B14F-4D97-AF65-F5344CB8AC3E}">
        <p14:creationId xmlns:p14="http://schemas.microsoft.com/office/powerpoint/2010/main" val="3567855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1" y="1208921"/>
            <a:ext cx="9018739" cy="1325563"/>
          </a:xfrm>
        </p:spPr>
        <p:txBody>
          <a:bodyPr>
            <a:noAutofit/>
          </a:bodyPr>
          <a:lstStyle/>
          <a:p>
            <a:r>
              <a:rPr lang="en-US" sz="1600" dirty="0"/>
              <a:t>Taxable bonds generate interest taxed as ordinary income when held in a non-qualified account. This annual taxation reduces the amount of income you retain and lowers the investment’s net return.</a:t>
            </a:r>
            <a:br>
              <a:rPr lang="en-US" sz="1600" dirty="0"/>
            </a:br>
            <a:br>
              <a:rPr lang="en-US" sz="1600" dirty="0"/>
            </a:br>
            <a:r>
              <a:rPr lang="en-US" sz="1600" dirty="0"/>
              <a:t>A more tax-efficient approach in a non-qualified account is municipal bonds. Municipal bonds generally provide federally tax-free interest, and in many cases state tax-free interest as well.</a:t>
            </a:r>
            <a:br>
              <a:rPr lang="en-US" sz="1600" dirty="0"/>
            </a:br>
            <a:br>
              <a:rPr lang="en-US" sz="1600" dirty="0"/>
            </a:br>
            <a:r>
              <a:rPr lang="en-US" sz="1600" dirty="0"/>
              <a:t>For investors in higher tax brackets, this can result in a significantly higher after-tax income stream compared to taxable bonds held in the same account.</a:t>
            </a:r>
            <a:br>
              <a:rPr lang="en-US" sz="1600" dirty="0"/>
            </a:br>
            <a:endParaRPr lang="en-US" sz="1600" dirty="0"/>
          </a:p>
        </p:txBody>
      </p:sp>
      <p:sp>
        <p:nvSpPr>
          <p:cNvPr id="4" name="Rectangle 3">
            <a:extLst>
              <a:ext uri="{FF2B5EF4-FFF2-40B4-BE49-F238E27FC236}">
                <a16:creationId xmlns:a16="http://schemas.microsoft.com/office/drawing/2014/main" id="{1BCF15AE-2AC8-E897-22AF-1904437AB16D}"/>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Taxable Bonds in Non-Qualified Accounts</a:t>
            </a:r>
          </a:p>
        </p:txBody>
      </p:sp>
      <p:sp>
        <p:nvSpPr>
          <p:cNvPr id="7" name="Content Placeholder 6">
            <a:extLst>
              <a:ext uri="{FF2B5EF4-FFF2-40B4-BE49-F238E27FC236}">
                <a16:creationId xmlns:a16="http://schemas.microsoft.com/office/drawing/2014/main" id="{EE0D5458-0AC7-03F1-AE36-B9823754F97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57683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32"/>
            <a:ext cx="9050056" cy="1325563"/>
          </a:xfrm>
        </p:spPr>
        <p:txBody>
          <a:bodyPr>
            <a:noAutofit/>
          </a:bodyPr>
          <a:lstStyle/>
          <a:p>
            <a:r>
              <a:rPr lang="en-US" sz="1600" dirty="0"/>
              <a:t>Active and passive funds differ in their approach to security selection and risk management. Active strategies seek to outperform a benchmark through manager decisions, while passive strategies aim to closely track an index with lower turnover and typically lower costs.</a:t>
            </a:r>
            <a:br>
              <a:rPr lang="en-US" sz="1600" dirty="0"/>
            </a:br>
            <a:r>
              <a:rPr lang="en-US" sz="1600" dirty="0"/>
              <a:t>Reviewing the balance between active and passive exposures can help clarify how much performance is driven by market returns versus manager selection, and whether the cost and risk trade-offs remain aligned with the investor’s objectives.</a:t>
            </a:r>
          </a:p>
        </p:txBody>
      </p:sp>
      <p:sp>
        <p:nvSpPr>
          <p:cNvPr id="4" name="Rectangle 3">
            <a:extLst>
              <a:ext uri="{FF2B5EF4-FFF2-40B4-BE49-F238E27FC236}">
                <a16:creationId xmlns:a16="http://schemas.microsoft.com/office/drawing/2014/main" id="{1BCF15AE-2AC8-E897-22AF-1904437AB16D}"/>
              </a:ext>
            </a:extLst>
          </p:cNvPr>
          <p:cNvSpPr/>
          <p:nvPr/>
        </p:nvSpPr>
        <p:spPr>
          <a:xfrm>
            <a:off x="0" y="20"/>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Active Passive Management</a:t>
            </a:r>
          </a:p>
        </p:txBody>
      </p:sp>
      <p:pic>
        <p:nvPicPr>
          <p:cNvPr id="1028" name="Picture 4" descr="Achieving Balance: Benefits of the Blend in Target Date Funds">
            <a:extLst>
              <a:ext uri="{FF2B5EF4-FFF2-40B4-BE49-F238E27FC236}">
                <a16:creationId xmlns:a16="http://schemas.microsoft.com/office/drawing/2014/main" id="{E425363F-9D35-B4AD-D7B2-CF20BBF82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786" y="2825856"/>
            <a:ext cx="5770220"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808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28"/>
            <a:ext cx="9050056" cy="1325563"/>
          </a:xfrm>
        </p:spPr>
        <p:txBody>
          <a:bodyPr>
            <a:noAutofit/>
          </a:bodyPr>
          <a:lstStyle/>
          <a:p>
            <a:r>
              <a:rPr lang="en-US" sz="1600" dirty="0"/>
              <a:t>Allocations to individual country and sector-specific funds can lead to more concentrated exposures compared to broader, diversified funds. While this approach may provide targeted access to specific markets or themes, it can also increase sensitivity to country- or sector-specific economic, regulatory, or geopolitical developments.</a:t>
            </a:r>
            <a:br>
              <a:rPr lang="en-US" sz="1600" dirty="0"/>
            </a:br>
            <a:r>
              <a:rPr lang="en-US" sz="1600" dirty="0"/>
              <a:t>Reviewing these positions in the context of the overall portfolio can help ensure that concentration levels remain intentional and aligned with the investor’s risk tolerance and diversification objectives.</a:t>
            </a:r>
          </a:p>
        </p:txBody>
      </p:sp>
      <p:sp>
        <p:nvSpPr>
          <p:cNvPr id="4" name="Rectangle 3">
            <a:extLst>
              <a:ext uri="{FF2B5EF4-FFF2-40B4-BE49-F238E27FC236}">
                <a16:creationId xmlns:a16="http://schemas.microsoft.com/office/drawing/2014/main" id="{1BCF15AE-2AC8-E897-22AF-1904437AB16D}"/>
              </a:ext>
            </a:extLst>
          </p:cNvPr>
          <p:cNvSpPr/>
          <p:nvPr/>
        </p:nvSpPr>
        <p:spPr>
          <a:xfrm>
            <a:off x="0" y="16"/>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a:t>Specific Exposure</a:t>
            </a:r>
            <a:endParaRPr lang="en-US" sz="3600" dirty="0"/>
          </a:p>
        </p:txBody>
      </p:sp>
    </p:spTree>
    <p:extLst>
      <p:ext uri="{BB962C8B-B14F-4D97-AF65-F5344CB8AC3E}">
        <p14:creationId xmlns:p14="http://schemas.microsoft.com/office/powerpoint/2010/main" val="2392732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34"/>
            <a:ext cx="9097028" cy="1325563"/>
          </a:xfrm>
        </p:spPr>
        <p:txBody>
          <a:bodyPr>
            <a:noAutofit/>
          </a:bodyPr>
          <a:lstStyle/>
          <a:p>
            <a:r>
              <a:rPr lang="en-US" sz="1600" dirty="0"/>
              <a:t>Some funds have underperformed their stated benchmarks over the observed period. Comparing fund returns to their relative indexes helps provide context on whether results have aligned with expectations, particularly after accounting for fees, tracking differences, and market conditions.</a:t>
            </a:r>
            <a:br>
              <a:rPr lang="en-US" sz="1600" dirty="0"/>
            </a:br>
            <a:r>
              <a:rPr lang="en-US" sz="1600" dirty="0"/>
              <a:t>Reviewing these outcomes can support an informed discussion around performance consistency and ongoing portfolio positioning.</a:t>
            </a:r>
          </a:p>
        </p:txBody>
      </p:sp>
      <p:sp>
        <p:nvSpPr>
          <p:cNvPr id="4" name="Rectangle 3">
            <a:extLst>
              <a:ext uri="{FF2B5EF4-FFF2-40B4-BE49-F238E27FC236}">
                <a16:creationId xmlns:a16="http://schemas.microsoft.com/office/drawing/2014/main" id="{1BCF15AE-2AC8-E897-22AF-1904437AB16D}"/>
              </a:ext>
            </a:extLst>
          </p:cNvPr>
          <p:cNvSpPr/>
          <p:nvPr/>
        </p:nvSpPr>
        <p:spPr>
          <a:xfrm>
            <a:off x="0" y="2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Underperforming Funds</a:t>
            </a:r>
          </a:p>
        </p:txBody>
      </p:sp>
    </p:spTree>
    <p:extLst>
      <p:ext uri="{BB962C8B-B14F-4D97-AF65-F5344CB8AC3E}">
        <p14:creationId xmlns:p14="http://schemas.microsoft.com/office/powerpoint/2010/main" val="2370381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607C0-D867-66F4-E73A-C63EE2CB34B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663B553-4CAA-3783-BBC1-A179CB25A9B4}"/>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Current Allocation By Sector</a:t>
            </a:r>
          </a:p>
        </p:txBody>
      </p:sp>
      <p:pic>
        <p:nvPicPr>
          <p:cNvPr id="3074" name="Picture 2" descr="Sector Rotation Strategies - Fidelity">
            <a:extLst>
              <a:ext uri="{FF2B5EF4-FFF2-40B4-BE49-F238E27FC236}">
                <a16:creationId xmlns:a16="http://schemas.microsoft.com/office/drawing/2014/main" id="{2250BC6D-2CF3-D8AB-D4E6-AB6D922809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2752"/>
          <a:stretch>
            <a:fillRect/>
          </a:stretch>
        </p:blipFill>
        <p:spPr bwMode="auto">
          <a:xfrm>
            <a:off x="4557816" y="1150175"/>
            <a:ext cx="4460925" cy="406408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Sector Rotation Strategies - Fidelity">
            <a:extLst>
              <a:ext uri="{FF2B5EF4-FFF2-40B4-BE49-F238E27FC236}">
                <a16:creationId xmlns:a16="http://schemas.microsoft.com/office/drawing/2014/main" id="{57AD38AF-29C2-FF3C-0539-04992BFD9F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9851"/>
          <a:stretch>
            <a:fillRect/>
          </a:stretch>
        </p:blipFill>
        <p:spPr bwMode="auto">
          <a:xfrm>
            <a:off x="2" y="5800431"/>
            <a:ext cx="6848475" cy="96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979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30"/>
            <a:ext cx="9050056" cy="1325563"/>
          </a:xfrm>
        </p:spPr>
        <p:txBody>
          <a:bodyPr>
            <a:noAutofit/>
          </a:bodyPr>
          <a:lstStyle/>
          <a:p>
            <a:r>
              <a:rPr lang="en-US" sz="1600" dirty="0"/>
              <a:t>Leveraged and inverse funds are designed to deliver amplified or opposite daily returns relative to a stated benchmark. Because these strategies reset daily, their long-term performance may differ materially from the benchmark’s cumulative return, particularly during periods of volatility.</a:t>
            </a:r>
            <a:br>
              <a:rPr lang="en-US" sz="1600" dirty="0"/>
            </a:br>
            <a:r>
              <a:rPr lang="en-US" sz="1600" dirty="0"/>
              <a:t>Reviewing the role, holding period, and sizing of these positions within the broader portfolio can help confirm that their behavior remains consistent with the investor’s objectives and risk profile.</a:t>
            </a:r>
          </a:p>
        </p:txBody>
      </p:sp>
      <p:sp>
        <p:nvSpPr>
          <p:cNvPr id="4" name="Rectangle 3">
            <a:extLst>
              <a:ext uri="{FF2B5EF4-FFF2-40B4-BE49-F238E27FC236}">
                <a16:creationId xmlns:a16="http://schemas.microsoft.com/office/drawing/2014/main" id="{1BCF15AE-2AC8-E897-22AF-1904437AB16D}"/>
              </a:ext>
            </a:extLst>
          </p:cNvPr>
          <p:cNvSpPr/>
          <p:nvPr/>
        </p:nvSpPr>
        <p:spPr>
          <a:xfrm>
            <a:off x="0" y="18"/>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Inverse/ Leveraged Funds</a:t>
            </a:r>
          </a:p>
        </p:txBody>
      </p:sp>
    </p:spTree>
    <p:extLst>
      <p:ext uri="{BB962C8B-B14F-4D97-AF65-F5344CB8AC3E}">
        <p14:creationId xmlns:p14="http://schemas.microsoft.com/office/powerpoint/2010/main" val="946851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24"/>
            <a:ext cx="9050056" cy="1325563"/>
          </a:xfrm>
        </p:spPr>
        <p:txBody>
          <a:bodyPr>
            <a:noAutofit/>
          </a:bodyPr>
          <a:lstStyle/>
          <a:p>
            <a:r>
              <a:rPr lang="en-US" sz="1600" dirty="0"/>
              <a:t>Target date funds offer a simplified, all-in-one investment approach, automatically adjusting asset allocation over time based on a stated retirement date. While this structure can provide convenience, it may not fully reflect an investor’s unique risk tolerance, tax situation, or holdings outside the fund.</a:t>
            </a:r>
            <a:br>
              <a:rPr lang="en-US" sz="1600" dirty="0"/>
            </a:br>
            <a:r>
              <a:rPr lang="en-US" sz="1600" dirty="0"/>
              <a:t>Reviewing how a target date fund fits within the broader portfolio can help confirm that its underlying exposures and glide path remain appropriate relative to the investor’s overall financial picture.</a:t>
            </a:r>
          </a:p>
        </p:txBody>
      </p:sp>
      <p:sp>
        <p:nvSpPr>
          <p:cNvPr id="4" name="Rectangle 3">
            <a:extLst>
              <a:ext uri="{FF2B5EF4-FFF2-40B4-BE49-F238E27FC236}">
                <a16:creationId xmlns:a16="http://schemas.microsoft.com/office/drawing/2014/main" id="{1BCF15AE-2AC8-E897-22AF-1904437AB16D}"/>
              </a:ext>
            </a:extLst>
          </p:cNvPr>
          <p:cNvSpPr/>
          <p:nvPr/>
        </p:nvSpPr>
        <p:spPr>
          <a:xfrm>
            <a:off x="0" y="1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Target Date Funds</a:t>
            </a:r>
          </a:p>
        </p:txBody>
      </p:sp>
    </p:spTree>
    <p:extLst>
      <p:ext uri="{BB962C8B-B14F-4D97-AF65-F5344CB8AC3E}">
        <p14:creationId xmlns:p14="http://schemas.microsoft.com/office/powerpoint/2010/main" val="512309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93945" y="858200"/>
            <a:ext cx="8924804" cy="1325563"/>
          </a:xfrm>
        </p:spPr>
        <p:txBody>
          <a:bodyPr>
            <a:noAutofit/>
          </a:bodyPr>
          <a:lstStyle/>
          <a:p>
            <a:r>
              <a:rPr lang="en-US" sz="1600" dirty="0"/>
              <a:t>A high concentration in digital assets, such as Bitcoin, can materially influence overall portfolio behavior, given their historically higher volatility and return variability compared to traditional asset classes. As a result, portfolio performance may become more sensitive to short-term market movements and sentiment shifts specific to the digital asset market.</a:t>
            </a:r>
            <a:br>
              <a:rPr lang="en-US" sz="1600" dirty="0"/>
            </a:br>
            <a:r>
              <a:rPr lang="en-US" sz="1600" dirty="0"/>
              <a:t>Reviewing the size of this allocation in the context of overall risk tolerance, time horizon, and liquidity needs can help ensure the exposure remains aligned with broader portfolio objectives.</a:t>
            </a:r>
          </a:p>
        </p:txBody>
      </p:sp>
      <p:sp>
        <p:nvSpPr>
          <p:cNvPr id="4" name="Rectangle 3">
            <a:extLst>
              <a:ext uri="{FF2B5EF4-FFF2-40B4-BE49-F238E27FC236}">
                <a16:creationId xmlns:a16="http://schemas.microsoft.com/office/drawing/2014/main" id="{1BCF15AE-2AC8-E897-22AF-1904437AB16D}"/>
              </a:ext>
            </a:extLst>
          </p:cNvPr>
          <p:cNvSpPr/>
          <p:nvPr/>
        </p:nvSpPr>
        <p:spPr>
          <a:xfrm>
            <a:off x="0" y="10"/>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Digital Assets</a:t>
            </a:r>
          </a:p>
        </p:txBody>
      </p:sp>
    </p:spTree>
    <p:extLst>
      <p:ext uri="{BB962C8B-B14F-4D97-AF65-F5344CB8AC3E}">
        <p14:creationId xmlns:p14="http://schemas.microsoft.com/office/powerpoint/2010/main" val="1261803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26"/>
            <a:ext cx="9050056" cy="1325563"/>
          </a:xfrm>
        </p:spPr>
        <p:txBody>
          <a:bodyPr>
            <a:noAutofit/>
          </a:bodyPr>
          <a:lstStyle/>
          <a:p>
            <a:r>
              <a:rPr lang="en-US" sz="1600" dirty="0"/>
              <a:t>Retail share classes often carry higher expense ratios or embedded distribution costs compared to institutional alternatives. These additional costs can reduce net returns over time, particularly in long-term holdings.</a:t>
            </a:r>
            <a:br>
              <a:rPr lang="en-US" sz="1600" dirty="0"/>
            </a:br>
            <a:r>
              <a:rPr lang="en-US" sz="1600" dirty="0"/>
              <a:t>Periodically reviewing available share class options can help determine whether lower-cost or more tax-efficient alternatives are accessible, given the account type, investment size, and platform.</a:t>
            </a:r>
          </a:p>
        </p:txBody>
      </p:sp>
      <p:sp>
        <p:nvSpPr>
          <p:cNvPr id="4" name="Rectangle 3">
            <a:extLst>
              <a:ext uri="{FF2B5EF4-FFF2-40B4-BE49-F238E27FC236}">
                <a16:creationId xmlns:a16="http://schemas.microsoft.com/office/drawing/2014/main" id="{1BCF15AE-2AC8-E897-22AF-1904437AB16D}"/>
              </a:ext>
            </a:extLst>
          </p:cNvPr>
          <p:cNvSpPr/>
          <p:nvPr/>
        </p:nvSpPr>
        <p:spPr>
          <a:xfrm>
            <a:off x="0" y="14"/>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a:t>Retail Share Class</a:t>
            </a:r>
            <a:endParaRPr lang="en-US" sz="3600" dirty="0"/>
          </a:p>
        </p:txBody>
      </p:sp>
    </p:spTree>
    <p:extLst>
      <p:ext uri="{BB962C8B-B14F-4D97-AF65-F5344CB8AC3E}">
        <p14:creationId xmlns:p14="http://schemas.microsoft.com/office/powerpoint/2010/main" val="1980548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59473" y="806762"/>
            <a:ext cx="9203473" cy="1325563"/>
          </a:xfrm>
        </p:spPr>
        <p:txBody>
          <a:bodyPr>
            <a:noAutofit/>
          </a:bodyPr>
          <a:lstStyle/>
          <a:p>
            <a:r>
              <a:rPr lang="en-US" sz="1400" dirty="0"/>
              <a:t>The tables below summarize the portfolio’s fixed income exposure across several key dimensions, including yield, duration, issuer concentration, and credit quality.</a:t>
            </a:r>
            <a:br>
              <a:rPr lang="en-US" sz="1400" dirty="0"/>
            </a:br>
            <a:r>
              <a:rPr lang="en-US" sz="1400" dirty="0"/>
              <a:t>Yield reflects the level of income generated by the fixed income holdings. Duration measures how sensitive bond prices may be to changes in interest rates, with higher duration generally implying greater price movement when rates change.</a:t>
            </a:r>
            <a:br>
              <a:rPr lang="en-US" sz="1400" dirty="0"/>
            </a:br>
            <a:r>
              <a:rPr lang="en-US" sz="1400" dirty="0"/>
              <a:t>Issuer exposure highlights how concentrated the portfolio is among individual borrowers, while credit quality shows the mix between higher-quality and lower-quality bonds within the allocation.</a:t>
            </a:r>
            <a:br>
              <a:rPr lang="en-US" sz="1400" dirty="0"/>
            </a:br>
            <a:r>
              <a:rPr lang="en-US" sz="1400" dirty="0"/>
              <a:t>These factors are typically reviewed together to better understand the role fixed income plays within the overall portfolio.</a:t>
            </a:r>
          </a:p>
        </p:txBody>
      </p:sp>
      <p:sp>
        <p:nvSpPr>
          <p:cNvPr id="4" name="Rectangle 3">
            <a:extLst>
              <a:ext uri="{FF2B5EF4-FFF2-40B4-BE49-F238E27FC236}">
                <a16:creationId xmlns:a16="http://schemas.microsoft.com/office/drawing/2014/main" id="{1BCF15AE-2AC8-E897-22AF-1904437AB16D}"/>
              </a:ext>
            </a:extLst>
          </p:cNvPr>
          <p:cNvSpPr/>
          <p:nvPr/>
        </p:nvSpPr>
        <p:spPr>
          <a:xfrm>
            <a:off x="0" y="6"/>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Fixed Income Exposure</a:t>
            </a:r>
          </a:p>
        </p:txBody>
      </p:sp>
    </p:spTree>
    <p:extLst>
      <p:ext uri="{BB962C8B-B14F-4D97-AF65-F5344CB8AC3E}">
        <p14:creationId xmlns:p14="http://schemas.microsoft.com/office/powerpoint/2010/main" val="1800944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59473" y="1023069"/>
            <a:ext cx="9203473" cy="1325563"/>
          </a:xfrm>
        </p:spPr>
        <p:txBody>
          <a:bodyPr>
            <a:noAutofit/>
          </a:bodyPr>
          <a:lstStyle/>
          <a:p>
            <a:r>
              <a:rPr lang="en-US" sz="1400" dirty="0"/>
              <a:t>Many portfolios include individual stocks, which can offer growth potential but also introduce risks that differ from diversified investments. The performance of a single company can be impacted by factors unrelated to the broader market, such as business challenges, management changes, competitive pressures, or regulatory developments.</a:t>
            </a:r>
            <a:br>
              <a:rPr lang="en-US" sz="1400" dirty="0"/>
            </a:br>
            <a:br>
              <a:rPr lang="en-US" sz="1400" dirty="0"/>
            </a:br>
            <a:r>
              <a:rPr lang="en-US" sz="1400" dirty="0"/>
              <a:t>As a result, portfolios with meaningful individual stock exposure may experience greater volatility and less consistency over time. Larger positions in a small number of stocks can increase concentration risk, while holdings clustered in one sector can reduce diversification benefits.</a:t>
            </a:r>
            <a:br>
              <a:rPr lang="en-US" sz="1400" dirty="0"/>
            </a:br>
            <a:br>
              <a:rPr lang="en-US" sz="1400" dirty="0"/>
            </a:br>
            <a:r>
              <a:rPr lang="en-US" sz="1400" dirty="0"/>
              <a:t>For this reason, individual stock exposure is typically evaluated within the broader context of diversification, asset allocation, and long-term portfolio structure.</a:t>
            </a:r>
          </a:p>
        </p:txBody>
      </p:sp>
      <p:sp>
        <p:nvSpPr>
          <p:cNvPr id="4" name="Rectangle 3">
            <a:extLst>
              <a:ext uri="{FF2B5EF4-FFF2-40B4-BE49-F238E27FC236}">
                <a16:creationId xmlns:a16="http://schemas.microsoft.com/office/drawing/2014/main" id="{1BCF15AE-2AC8-E897-22AF-1904437AB16D}"/>
              </a:ext>
            </a:extLst>
          </p:cNvPr>
          <p:cNvSpPr/>
          <p:nvPr/>
        </p:nvSpPr>
        <p:spPr>
          <a:xfrm>
            <a:off x="0" y="4"/>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Individual Stocks</a:t>
            </a:r>
          </a:p>
        </p:txBody>
      </p:sp>
    </p:spTree>
    <p:extLst>
      <p:ext uri="{BB962C8B-B14F-4D97-AF65-F5344CB8AC3E}">
        <p14:creationId xmlns:p14="http://schemas.microsoft.com/office/powerpoint/2010/main" val="3750517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158A2-82B1-51EA-6A9B-019802CD832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80DBBAD-7C00-EF36-58F1-F8CE04DA4203}"/>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sp>
        <p:nvSpPr>
          <p:cNvPr id="7" name="Content Placeholder 6">
            <a:extLst>
              <a:ext uri="{FF2B5EF4-FFF2-40B4-BE49-F238E27FC236}">
                <a16:creationId xmlns:a16="http://schemas.microsoft.com/office/drawing/2014/main" id="{9F1A7ED3-54CD-7317-83D4-B5E609B2562F}"/>
              </a:ext>
            </a:extLst>
          </p:cNvPr>
          <p:cNvSpPr>
            <a:spLocks noGrp="1"/>
          </p:cNvSpPr>
          <p:nvPr>
            <p:ph idx="1"/>
          </p:nvPr>
        </p:nvSpPr>
        <p:spPr>
          <a:xfrm>
            <a:off x="323387" y="1003612"/>
            <a:ext cx="8191965" cy="5173353"/>
          </a:xfrm>
        </p:spPr>
        <p:txBody>
          <a:bodyPr>
            <a:normAutofit fontScale="92500" lnSpcReduction="20000"/>
          </a:bodyPr>
          <a:lstStyle/>
          <a:p>
            <a:pPr marL="0" indent="0">
              <a:buNone/>
            </a:pPr>
            <a:r>
              <a:rPr lang="en-US" dirty="0"/>
              <a:t>The information presented is for educational and illustrative purposes only and does not constitute an offer to buy or sell any security, nor should it be interpreted as personalized investment advice. Investment decisions should be made based on an investor’s individual objectives, risk tolerance, time horizon, tax situation, and financial circumstances. All investments involve risk, including possible loss of principal. Past performance is not indicative of future results. Forecasts, projections, and forward-looking statements are based on assumptions and are not guarantees. Actual results may differ materially. Market conditions, interest rates, regulations, and tax laws may change at any time and could impact investment outcomes. Clients should consult with their tax advisor, accountant, and legal counsel before implementing any strategy discussed.</a:t>
            </a:r>
          </a:p>
        </p:txBody>
      </p:sp>
    </p:spTree>
    <p:extLst>
      <p:ext uri="{BB962C8B-B14F-4D97-AF65-F5344CB8AC3E}">
        <p14:creationId xmlns:p14="http://schemas.microsoft.com/office/powerpoint/2010/main" val="3396998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36B51-1E9E-E49A-1B6E-22FD6A739C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8FF16A-2B86-B2CB-B0DA-604BD24EEB0B}"/>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sp>
        <p:nvSpPr>
          <p:cNvPr id="7" name="Content Placeholder 6">
            <a:extLst>
              <a:ext uri="{FF2B5EF4-FFF2-40B4-BE49-F238E27FC236}">
                <a16:creationId xmlns:a16="http://schemas.microsoft.com/office/drawing/2014/main" id="{463D3505-58FC-02C2-93F4-E899687FF837}"/>
              </a:ext>
            </a:extLst>
          </p:cNvPr>
          <p:cNvSpPr>
            <a:spLocks noGrp="1"/>
          </p:cNvSpPr>
          <p:nvPr>
            <p:ph idx="1"/>
          </p:nvPr>
        </p:nvSpPr>
        <p:spPr>
          <a:xfrm>
            <a:off x="125263" y="892100"/>
            <a:ext cx="8390089" cy="5284865"/>
          </a:xfrm>
        </p:spPr>
        <p:txBody>
          <a:bodyPr>
            <a:normAutofit fontScale="92500" lnSpcReduction="10000"/>
          </a:bodyPr>
          <a:lstStyle/>
          <a:p>
            <a:pPr marL="0" indent="0">
              <a:buNone/>
            </a:pPr>
            <a:r>
              <a:rPr lang="en-US" dirty="0"/>
              <a:t>Fixed income securities are subject to various risks, including credit risk, interest rate risk, reinvestment risk, liquidity risk, inflation risk, and market risk. Bond values generally decline as interest rates rise, and bonds sold prior to maturity may result in a gain or loss. Lower-rated bonds, including high-yield or non-investment-grade securities, involve greater volatility, higher credit risk, and increased possibility of default. Yield and income levels may fluctuate based on market conditions and are not guaranteed. Callable bonds may be redeemed by the issuer prior to maturity, which may affect cash flows and reinvestment opportunities. Fixed income diversification does not ensure a profit or protect against losses. Taxable bond yields referenced may not reflect fees, expenses, or the impact of taxes on returns.</a:t>
            </a:r>
          </a:p>
        </p:txBody>
      </p:sp>
    </p:spTree>
    <p:extLst>
      <p:ext uri="{BB962C8B-B14F-4D97-AF65-F5344CB8AC3E}">
        <p14:creationId xmlns:p14="http://schemas.microsoft.com/office/powerpoint/2010/main" val="4142949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368C3-6D03-4788-644E-5883036C5A8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0EFCD0C-91A2-FAF2-2463-1C1BC11782B4}"/>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sp>
        <p:nvSpPr>
          <p:cNvPr id="7" name="Content Placeholder 6">
            <a:extLst>
              <a:ext uri="{FF2B5EF4-FFF2-40B4-BE49-F238E27FC236}">
                <a16:creationId xmlns:a16="http://schemas.microsoft.com/office/drawing/2014/main" id="{7B42EC0D-2220-2B89-B45B-86BEE42615DE}"/>
              </a:ext>
            </a:extLst>
          </p:cNvPr>
          <p:cNvSpPr>
            <a:spLocks noGrp="1"/>
          </p:cNvSpPr>
          <p:nvPr>
            <p:ph idx="1"/>
          </p:nvPr>
        </p:nvSpPr>
        <p:spPr>
          <a:xfrm>
            <a:off x="125263" y="947856"/>
            <a:ext cx="8247721" cy="5151051"/>
          </a:xfrm>
        </p:spPr>
        <p:txBody>
          <a:bodyPr>
            <a:normAutofit fontScale="92500"/>
          </a:bodyPr>
          <a:lstStyle/>
          <a:p>
            <a:pPr marL="0" indent="0">
              <a:buNone/>
            </a:pPr>
            <a:r>
              <a:rPr lang="en-US" dirty="0"/>
              <a:t>Municipal bonds are subject to credit, interest rate, market, and inflation risks. Although municipal bond interest is generally exempt from federal income tax, it may be subject to state and local taxes, the Alternative Minimum Tax (AMT), and changes in tax law. Tax treatment may vary by issuer, state of residence, and individual tax circumstances. Capital gains, if realized, are taxable. Municipal securities carry varying levels of credit quality, and defaults—while historically low—are possible. Tax-equivalent yield comparisons are illustrative and assume specific tax brackets, which may not reflect a client’s actual situation. Investors should consult with a qualified tax professional before relying on any tax-related projections or assumptions.</a:t>
            </a:r>
          </a:p>
        </p:txBody>
      </p:sp>
    </p:spTree>
    <p:extLst>
      <p:ext uri="{BB962C8B-B14F-4D97-AF65-F5344CB8AC3E}">
        <p14:creationId xmlns:p14="http://schemas.microsoft.com/office/powerpoint/2010/main" val="24110088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3AA4-F1B0-B380-23F4-F8A68C4F83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0300E5-C965-E81F-A59F-35989E434ED8}"/>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sp>
        <p:nvSpPr>
          <p:cNvPr id="7" name="Content Placeholder 6">
            <a:extLst>
              <a:ext uri="{FF2B5EF4-FFF2-40B4-BE49-F238E27FC236}">
                <a16:creationId xmlns:a16="http://schemas.microsoft.com/office/drawing/2014/main" id="{9E8260BC-63DB-3657-9F34-87AFD3690C4A}"/>
              </a:ext>
            </a:extLst>
          </p:cNvPr>
          <p:cNvSpPr>
            <a:spLocks noGrp="1"/>
          </p:cNvSpPr>
          <p:nvPr>
            <p:ph idx="1"/>
          </p:nvPr>
        </p:nvSpPr>
        <p:spPr>
          <a:xfrm>
            <a:off x="125261" y="747734"/>
            <a:ext cx="8893478" cy="5162202"/>
          </a:xfrm>
        </p:spPr>
        <p:txBody>
          <a:bodyPr>
            <a:normAutofit fontScale="92500"/>
          </a:bodyPr>
          <a:lstStyle/>
          <a:p>
            <a:pPr marL="0" indent="0">
              <a:buNone/>
            </a:pPr>
            <a:r>
              <a:rPr lang="en-US" dirty="0"/>
              <a:t>Asset allocation and diversification are strategies designed to help manage risk; neither guarantees a profit nor eliminates the possibility of loss. Portfolio recommendations are based on current market conditions, which may change without notice. Modeling and hypothetical scenarios represent estimates and are not guarantees of future performance. Rebalancing may result in additional fees or tax consequences. The placement of assets across qualified and non-qualified accounts should be evaluated based on individual financial plans, tax considerations, and retirement objectives. Comparisons between taxable and tax-advantaged accounts are presented to illustrate potential differences and should not be interpreted as universal or definitive for all investors.</a:t>
            </a:r>
          </a:p>
        </p:txBody>
      </p:sp>
    </p:spTree>
    <p:extLst>
      <p:ext uri="{BB962C8B-B14F-4D97-AF65-F5344CB8AC3E}">
        <p14:creationId xmlns:p14="http://schemas.microsoft.com/office/powerpoint/2010/main" val="25716689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6641-6592-0035-BE6D-DB843ADAF6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AB3A24-B411-F502-75F7-3CF0D219483C}"/>
              </a:ext>
            </a:extLst>
          </p:cNvPr>
          <p:cNvSpPr/>
          <p:nvPr/>
        </p:nvSpPr>
        <p:spPr>
          <a:xfrm>
            <a:off x="0" y="2"/>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Disclosures</a:t>
            </a:r>
          </a:p>
        </p:txBody>
      </p:sp>
      <p:sp>
        <p:nvSpPr>
          <p:cNvPr id="7" name="Content Placeholder 6">
            <a:extLst>
              <a:ext uri="{FF2B5EF4-FFF2-40B4-BE49-F238E27FC236}">
                <a16:creationId xmlns:a16="http://schemas.microsoft.com/office/drawing/2014/main" id="{0ED6818C-48E4-6645-D762-76734EE3293F}"/>
              </a:ext>
            </a:extLst>
          </p:cNvPr>
          <p:cNvSpPr>
            <a:spLocks noGrp="1"/>
          </p:cNvSpPr>
          <p:nvPr>
            <p:ph idx="1"/>
          </p:nvPr>
        </p:nvSpPr>
        <p:spPr>
          <a:xfrm>
            <a:off x="125263" y="947856"/>
            <a:ext cx="8390089" cy="5229109"/>
          </a:xfrm>
        </p:spPr>
        <p:txBody>
          <a:bodyPr>
            <a:normAutofit fontScale="92500" lnSpcReduction="10000"/>
          </a:bodyPr>
          <a:lstStyle/>
          <a:p>
            <a:pPr marL="0" indent="0">
              <a:buNone/>
            </a:pPr>
            <a:r>
              <a:rPr lang="en-US" dirty="0"/>
              <a:t>Benchmarks are presented for comparison purposes only and may not reflect the composition, risk profile, or investment approach of the referenced portfolio. Indexes are unmanaged, cannot be invested in directly, and do not include fees or expenses. Performance figures, yields, or return estimates are illustrative and should not be viewed as guarantees. Third-party data sources believed to be reliable are used, but accuracy and completeness cannot be assured. Charts, tables, and calculations may be simplified for presentation purposes. The client is responsible for reviewing full prospectuses, offering documents, and financial statements prior to making investment decisions. All opinions expressed are subject to change based on market conditions and new information.</a:t>
            </a:r>
          </a:p>
        </p:txBody>
      </p:sp>
    </p:spTree>
    <p:extLst>
      <p:ext uri="{BB962C8B-B14F-4D97-AF65-F5344CB8AC3E}">
        <p14:creationId xmlns:p14="http://schemas.microsoft.com/office/powerpoint/2010/main" val="23850596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2136</Words>
  <Application>Microsoft Office PowerPoint</Application>
  <PresentationFormat>On-screen Show (4:3)</PresentationFormat>
  <Paragraphs>54</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Aptos Display</vt:lpstr>
      <vt:lpstr>Arial</vt:lpstr>
      <vt:lpstr>Office Theme</vt:lpstr>
      <vt:lpstr>PowerPoint Presentation</vt:lpstr>
      <vt:lpstr>Emotions In Investing</vt:lpstr>
      <vt:lpstr>PowerPoint Presentation</vt:lpstr>
      <vt:lpstr>The Importance Of Investing Early</vt:lpstr>
      <vt:lpstr>PowerPoint Presentation</vt:lpstr>
      <vt:lpstr>PowerPoint Presentation</vt:lpstr>
      <vt:lpstr>Qualified Accounts:</vt:lpstr>
      <vt:lpstr>PowerPoint Presentation</vt:lpstr>
      <vt:lpstr>Tracking error measures how closely an investment follows its stated benchmark, and elevated tracking error can indicate meaningful deviations in performance relative to the index. These differences may arise from active management decisions, portfolio construction, or implementation costs. Reviewing tracking error alongside performance can provide additional context on how consistently a strategy behaves versus expectations. This helps clarify whether returns are being driven by intentional active risk or by unintended divergence from the benchmark.</vt:lpstr>
      <vt:lpstr>The expense ratio represents the annual cost a mutual fund or ETF charges to operate and manage the portfolio. This fee is deducted directly from the fund’s performance each year, and therefore reduces the return realized by the investor.  Higher expense ratios create a persistent performance drag. Over time, even small differences can materially impact long-term results due to compounding. Importantly, higher fees do not necessarily lead to better performance; many higher-cost funds have difficulty outperforming comparable, lower-cost strategies on a net-of-fee basis</vt:lpstr>
      <vt:lpstr>In some cases, advisors or broker-dealers may have business relationships with certain investment providers or offer proprietary products. While this is not inherently inappropriate, it can create situations where there may be an incentive to favor specific fund families or in-house products over other available options.  Because of this, it is important for investors to understand how investment recommendations are made and whether compensation structures, revenue sharing, or firm affiliations may influence product selection. Evaluating investments based on cost, performance, fit within the portfolio, and alignment with the client’s goals helps promote more objective decision-making and stronger long-term outcomes.</vt:lpstr>
      <vt:lpstr>The Tax Cost Ratio measures how much a fund’s annual return is reduced by taxes. It shows the percentage of a fund’s performance that is lost due to taxable distributions—such as interest, dividends, and capital gains—each year.  If a fund earns 6% before tax, and the investor keeps 4.8% after tax, the tax cost ratio is 1.2% (20% of the return lost in taxes).  A high tax cost ratio means the investment is creating large taxable distributions each year, reducing how much of the return the investor actually keeps. </vt:lpstr>
      <vt:lpstr>Municipal bonds are generally not well-suited for tax-advantaged (qualified) accounts, such as IRAs or retirement plans. The primary benefit of municipal bonds is their tax-free interest, but that advantage is largely lost inside a qualified account where income is already tax-deferred or tax-free. As a result, investors may accept a lower yield without receiving any additional tax benefit. This can reduce overall income potential and lead to a lower long-term return compared to holding higher-yielding taxable bonds in the same account. For this reason, municipal bonds are typically more effective in non-qualified accounts, while taxable bonds are better positioned inside qualified accounts to maximize after-tax portfolio efficiency.</vt:lpstr>
      <vt:lpstr>Taxable bonds generate interest taxed as ordinary income when held in a non-qualified account. This annual taxation reduces the amount of income you retain and lowers the investment’s net return.  A more tax-efficient approach in a non-qualified account is municipal bonds. Municipal bonds generally provide federally tax-free interest, and in many cases state tax-free interest as well.  For investors in higher tax brackets, this can result in a significantly higher after-tax income stream compared to taxable bonds held in the same account. </vt:lpstr>
      <vt:lpstr>Active and passive funds differ in their approach to security selection and risk management. Active strategies seek to outperform a benchmark through manager decisions, while passive strategies aim to closely track an index with lower turnover and typically lower costs. Reviewing the balance between active and passive exposures can help clarify how much performance is driven by market returns versus manager selection, and whether the cost and risk trade-offs remain aligned with the investor’s objectives.</vt:lpstr>
      <vt:lpstr>Allocations to individual country and sector-specific funds can lead to more concentrated exposures compared to broader, diversified funds. While this approach may provide targeted access to specific markets or themes, it can also increase sensitivity to country- or sector-specific economic, regulatory, or geopolitical developments. Reviewing these positions in the context of the overall portfolio can help ensure that concentration levels remain intentional and aligned with the investor’s risk tolerance and diversification objectives.</vt:lpstr>
      <vt:lpstr>Some funds have underperformed their stated benchmarks over the observed period. Comparing fund returns to their relative indexes helps provide context on whether results have aligned with expectations, particularly after accounting for fees, tracking differences, and market conditions. Reviewing these outcomes can support an informed discussion around performance consistency and ongoing portfolio positioning.</vt:lpstr>
      <vt:lpstr>PowerPoint Presentation</vt:lpstr>
      <vt:lpstr>Leveraged and inverse funds are designed to deliver amplified or opposite daily returns relative to a stated benchmark. Because these strategies reset daily, their long-term performance may differ materially from the benchmark’s cumulative return, particularly during periods of volatility. Reviewing the role, holding period, and sizing of these positions within the broader portfolio can help confirm that their behavior remains consistent with the investor’s objectives and risk profile.</vt:lpstr>
      <vt:lpstr>Target date funds offer a simplified, all-in-one investment approach, automatically adjusting asset allocation over time based on a stated retirement date. While this structure can provide convenience, it may not fully reflect an investor’s unique risk tolerance, tax situation, or holdings outside the fund. Reviewing how a target date fund fits within the broader portfolio can help confirm that its underlying exposures and glide path remain appropriate relative to the investor’s overall financial picture.</vt:lpstr>
      <vt:lpstr>A high concentration in digital assets, such as Bitcoin, can materially influence overall portfolio behavior, given their historically higher volatility and return variability compared to traditional asset classes. As a result, portfolio performance may become more sensitive to short-term market movements and sentiment shifts specific to the digital asset market. Reviewing the size of this allocation in the context of overall risk tolerance, time horizon, and liquidity needs can help ensure the exposure remains aligned with broader portfolio objectives.</vt:lpstr>
      <vt:lpstr>Retail share classes often carry higher expense ratios or embedded distribution costs compared to institutional alternatives. These additional costs can reduce net returns over time, particularly in long-term holdings. Periodically reviewing available share class options can help determine whether lower-cost or more tax-efficient alternatives are accessible, given the account type, investment size, and platform.</vt:lpstr>
      <vt:lpstr>The tables below summarize the portfolio’s fixed income exposure across several key dimensions, including yield, duration, issuer concentration, and credit quality. Yield reflects the level of income generated by the fixed income holdings. Duration measures how sensitive bond prices may be to changes in interest rates, with higher duration generally implying greater price movement when rates change. Issuer exposure highlights how concentrated the portfolio is among individual borrowers, while credit quality shows the mix between higher-quality and lower-quality bonds within the allocation. These factors are typically reviewed together to better understand the role fixed income plays within the overall portfolio.</vt:lpstr>
      <vt:lpstr>Many portfolios include individual stocks, which can offer growth potential but also introduce risks that differ from diversified investments. The performance of a single company can be impacted by factors unrelated to the broader market, such as business challenges, management changes, competitive pressures, or regulatory developments.  As a result, portfolios with meaningful individual stock exposure may experience greater volatility and less consistency over time. Larger positions in a small number of stocks can increase concentration risk, while holdings clustered in one sector can reduce diversification benefits.  For this reason, individual stock exposure is typically evaluated within the broader context of diversification, asset allocation, and long-term portfolio structure.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12</cp:revision>
  <dcterms:created xsi:type="dcterms:W3CDTF">2025-12-21T01:47:10Z</dcterms:created>
  <dcterms:modified xsi:type="dcterms:W3CDTF">2026-03-03T18:28:42Z</dcterms:modified>
</cp:coreProperties>
</file>