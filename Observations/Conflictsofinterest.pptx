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5"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7" d="100"/>
          <a:sy n="97" d="100"/>
        </p:scale>
        <p:origin x="2040"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4F2B864-2911-4CB4-9DE2-9C42E9149BC9}"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E99E0D-4ACF-49A7-B99A-7C1B84229668}" type="slidenum">
              <a:rPr lang="en-US" smtClean="0"/>
              <a:t>‹#›</a:t>
            </a:fld>
            <a:endParaRPr lang="en-US"/>
          </a:p>
        </p:txBody>
      </p:sp>
    </p:spTree>
    <p:extLst>
      <p:ext uri="{BB962C8B-B14F-4D97-AF65-F5344CB8AC3E}">
        <p14:creationId xmlns:p14="http://schemas.microsoft.com/office/powerpoint/2010/main" val="670771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F2B864-2911-4CB4-9DE2-9C42E9149BC9}"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E99E0D-4ACF-49A7-B99A-7C1B84229668}" type="slidenum">
              <a:rPr lang="en-US" smtClean="0"/>
              <a:t>‹#›</a:t>
            </a:fld>
            <a:endParaRPr lang="en-US"/>
          </a:p>
        </p:txBody>
      </p:sp>
    </p:spTree>
    <p:extLst>
      <p:ext uri="{BB962C8B-B14F-4D97-AF65-F5344CB8AC3E}">
        <p14:creationId xmlns:p14="http://schemas.microsoft.com/office/powerpoint/2010/main" val="2770119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4F2B864-2911-4CB4-9DE2-9C42E9149BC9}"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E99E0D-4ACF-49A7-B99A-7C1B84229668}" type="slidenum">
              <a:rPr lang="en-US" smtClean="0"/>
              <a:t>‹#›</a:t>
            </a:fld>
            <a:endParaRPr lang="en-US"/>
          </a:p>
        </p:txBody>
      </p:sp>
    </p:spTree>
    <p:extLst>
      <p:ext uri="{BB962C8B-B14F-4D97-AF65-F5344CB8AC3E}">
        <p14:creationId xmlns:p14="http://schemas.microsoft.com/office/powerpoint/2010/main" val="6455337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4F2B864-2911-4CB4-9DE2-9C42E9149BC9}"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E99E0D-4ACF-49A7-B99A-7C1B84229668}" type="slidenum">
              <a:rPr lang="en-US" smtClean="0"/>
              <a:t>‹#›</a:t>
            </a:fld>
            <a:endParaRPr lang="en-US"/>
          </a:p>
        </p:txBody>
      </p:sp>
    </p:spTree>
    <p:extLst>
      <p:ext uri="{BB962C8B-B14F-4D97-AF65-F5344CB8AC3E}">
        <p14:creationId xmlns:p14="http://schemas.microsoft.com/office/powerpoint/2010/main" val="2884437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4F2B864-2911-4CB4-9DE2-9C42E9149BC9}" type="datetimeFigureOut">
              <a:rPr lang="en-US" smtClean="0"/>
              <a:t>1/17/2026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9E99E0D-4ACF-49A7-B99A-7C1B84229668}" type="slidenum">
              <a:rPr lang="en-US" smtClean="0"/>
              <a:t>‹#›</a:t>
            </a:fld>
            <a:endParaRPr lang="en-US"/>
          </a:p>
        </p:txBody>
      </p:sp>
    </p:spTree>
    <p:extLst>
      <p:ext uri="{BB962C8B-B14F-4D97-AF65-F5344CB8AC3E}">
        <p14:creationId xmlns:p14="http://schemas.microsoft.com/office/powerpoint/2010/main" val="4028369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4F2B864-2911-4CB4-9DE2-9C42E9149BC9}" type="datetimeFigureOut">
              <a:rPr lang="en-US" smtClean="0"/>
              <a:t>1/17/2026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9E99E0D-4ACF-49A7-B99A-7C1B84229668}" type="slidenum">
              <a:rPr lang="en-US" smtClean="0"/>
              <a:t>‹#›</a:t>
            </a:fld>
            <a:endParaRPr lang="en-US"/>
          </a:p>
        </p:txBody>
      </p:sp>
    </p:spTree>
    <p:extLst>
      <p:ext uri="{BB962C8B-B14F-4D97-AF65-F5344CB8AC3E}">
        <p14:creationId xmlns:p14="http://schemas.microsoft.com/office/powerpoint/2010/main" val="930801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F2B864-2911-4CB4-9DE2-9C42E9149BC9}" type="datetimeFigureOut">
              <a:rPr lang="en-US" smtClean="0"/>
              <a:t>1/17/2026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9E99E0D-4ACF-49A7-B99A-7C1B84229668}" type="slidenum">
              <a:rPr lang="en-US" smtClean="0"/>
              <a:t>‹#›</a:t>
            </a:fld>
            <a:endParaRPr lang="en-US"/>
          </a:p>
        </p:txBody>
      </p:sp>
    </p:spTree>
    <p:extLst>
      <p:ext uri="{BB962C8B-B14F-4D97-AF65-F5344CB8AC3E}">
        <p14:creationId xmlns:p14="http://schemas.microsoft.com/office/powerpoint/2010/main" val="2869547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4F2B864-2911-4CB4-9DE2-9C42E9149BC9}"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E99E0D-4ACF-49A7-B99A-7C1B84229668}" type="slidenum">
              <a:rPr lang="en-US" smtClean="0"/>
              <a:t>‹#›</a:t>
            </a:fld>
            <a:endParaRPr lang="en-US"/>
          </a:p>
        </p:txBody>
      </p:sp>
    </p:spTree>
    <p:extLst>
      <p:ext uri="{BB962C8B-B14F-4D97-AF65-F5344CB8AC3E}">
        <p14:creationId xmlns:p14="http://schemas.microsoft.com/office/powerpoint/2010/main" val="2728873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4F2B864-2911-4CB4-9DE2-9C42E9149BC9}"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E99E0D-4ACF-49A7-B99A-7C1B84229668}" type="slidenum">
              <a:rPr lang="en-US" smtClean="0"/>
              <a:t>‹#›</a:t>
            </a:fld>
            <a:endParaRPr lang="en-US"/>
          </a:p>
        </p:txBody>
      </p:sp>
    </p:spTree>
    <p:extLst>
      <p:ext uri="{BB962C8B-B14F-4D97-AF65-F5344CB8AC3E}">
        <p14:creationId xmlns:p14="http://schemas.microsoft.com/office/powerpoint/2010/main" val="961208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F2B864-2911-4CB4-9DE2-9C42E9149BC9}"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E99E0D-4ACF-49A7-B99A-7C1B84229668}" type="slidenum">
              <a:rPr lang="en-US" smtClean="0"/>
              <a:t>‹#›</a:t>
            </a:fld>
            <a:endParaRPr lang="en-US"/>
          </a:p>
        </p:txBody>
      </p:sp>
    </p:spTree>
    <p:extLst>
      <p:ext uri="{BB962C8B-B14F-4D97-AF65-F5344CB8AC3E}">
        <p14:creationId xmlns:p14="http://schemas.microsoft.com/office/powerpoint/2010/main" val="4252123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F2B864-2911-4CB4-9DE2-9C42E9149BC9}"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E99E0D-4ACF-49A7-B99A-7C1B84229668}" type="slidenum">
              <a:rPr lang="en-US" smtClean="0"/>
              <a:t>‹#›</a:t>
            </a:fld>
            <a:endParaRPr lang="en-US"/>
          </a:p>
        </p:txBody>
      </p:sp>
    </p:spTree>
    <p:extLst>
      <p:ext uri="{BB962C8B-B14F-4D97-AF65-F5344CB8AC3E}">
        <p14:creationId xmlns:p14="http://schemas.microsoft.com/office/powerpoint/2010/main" val="29818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F2B864-2911-4CB4-9DE2-9C42E9149BC9}" type="datetimeFigureOut">
              <a:rPr lang="en-US" smtClean="0"/>
              <a:t>1/17/2026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9E99E0D-4ACF-49A7-B99A-7C1B84229668}" type="slidenum">
              <a:rPr lang="en-US" smtClean="0"/>
              <a:t>‹#›</a:t>
            </a:fld>
            <a:endParaRPr lang="en-US"/>
          </a:p>
        </p:txBody>
      </p:sp>
    </p:spTree>
    <p:extLst>
      <p:ext uri="{BB962C8B-B14F-4D97-AF65-F5344CB8AC3E}">
        <p14:creationId xmlns:p14="http://schemas.microsoft.com/office/powerpoint/2010/main" val="38514350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74F8E-9B49-A158-1CED-FD8699AEC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1FCFD-C1C7-90EE-8837-3DA7C40CB2FE}"/>
              </a:ext>
            </a:extLst>
          </p:cNvPr>
          <p:cNvSpPr>
            <a:spLocks noGrp="1"/>
          </p:cNvSpPr>
          <p:nvPr>
            <p:ph type="title"/>
          </p:nvPr>
        </p:nvSpPr>
        <p:spPr>
          <a:xfrm>
            <a:off x="0" y="885420"/>
            <a:ext cx="9055988" cy="1325563"/>
          </a:xfrm>
        </p:spPr>
        <p:txBody>
          <a:bodyPr>
            <a:noAutofit/>
          </a:bodyPr>
          <a:lstStyle/>
          <a:p>
            <a:r>
              <a:rPr lang="en-US" sz="1400" dirty="0"/>
              <a:t>In some cases, advisors or broker-dealers may have business relationships with certain investment providers or offer proprietary products. While this is not inherently inappropriate, it can create situations where there may be an incentive to favor specific fund families or in-house products over other available options.</a:t>
            </a:r>
            <a:br>
              <a:rPr lang="en-US" sz="1400" dirty="0"/>
            </a:br>
            <a:br>
              <a:rPr lang="en-US" sz="1400" dirty="0"/>
            </a:br>
            <a:r>
              <a:rPr lang="en-US" sz="1400" dirty="0"/>
              <a:t>Because of this, it is important for investors to understand how investment recommendations are made and whether compensation structures, revenue sharing, or firm affiliations may influence product selection. Evaluating investments based on cost, performance, fit within the portfolio, and alignment with the client’s goals helps promote more objective decision-making and stronger long-term outcomes.</a:t>
            </a:r>
          </a:p>
        </p:txBody>
      </p:sp>
      <p:sp>
        <p:nvSpPr>
          <p:cNvPr id="4" name="Rectangle 3">
            <a:extLst>
              <a:ext uri="{FF2B5EF4-FFF2-40B4-BE49-F238E27FC236}">
                <a16:creationId xmlns:a16="http://schemas.microsoft.com/office/drawing/2014/main" id="{1BCF15AE-2AC8-E897-22AF-1904437AB16D}"/>
              </a:ext>
            </a:extLst>
          </p:cNvPr>
          <p:cNvSpPr/>
          <p:nvPr/>
        </p:nvSpPr>
        <p:spPr>
          <a:xfrm>
            <a:off x="0" y="6"/>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t>Potential Conflict Of Interest</a:t>
            </a:r>
          </a:p>
        </p:txBody>
      </p:sp>
      <p:pic>
        <p:nvPicPr>
          <p:cNvPr id="5" name="Picture 4">
            <a:extLst>
              <a:ext uri="{FF2B5EF4-FFF2-40B4-BE49-F238E27FC236}">
                <a16:creationId xmlns:a16="http://schemas.microsoft.com/office/drawing/2014/main" id="{A323327C-F0C6-AC49-E912-DEAB34B8C3F3}"/>
              </a:ext>
            </a:extLst>
          </p:cNvPr>
          <p:cNvPicPr>
            <a:picLocks noChangeAspect="1"/>
          </p:cNvPicPr>
          <p:nvPr/>
        </p:nvPicPr>
        <p:blipFill>
          <a:blip r:embed="rId2"/>
          <a:srcRect b="2890"/>
          <a:stretch>
            <a:fillRect/>
          </a:stretch>
        </p:blipFill>
        <p:spPr>
          <a:xfrm>
            <a:off x="1412222" y="5811765"/>
            <a:ext cx="5473981" cy="795512"/>
          </a:xfrm>
          <a:prstGeom prst="rect">
            <a:avLst/>
          </a:prstGeom>
        </p:spPr>
      </p:pic>
    </p:spTree>
    <p:extLst>
      <p:ext uri="{BB962C8B-B14F-4D97-AF65-F5344CB8AC3E}">
        <p14:creationId xmlns:p14="http://schemas.microsoft.com/office/powerpoint/2010/main" val="8650165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9</TotalTime>
  <Words>117</Words>
  <Application>Microsoft Office PowerPoint</Application>
  <PresentationFormat>On-screen Show (4:3)</PresentationFormat>
  <Paragraphs>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In some cases, advisors or broker-dealers may have business relationships with certain investment providers or offer proprietary products. While this is not inherently inappropriate, it can create situations where there may be an incentive to favor specific fund families or in-house products over other available options.  Because of this, it is important for investors to understand how investment recommendations are made and whether compensation structures, revenue sharing, or firm affiliations may influence product selection. Evaluating investments based on cost, performance, fit within the portfolio, and alignment with the client’s goals helps promote more objective decision-making and stronger long-term outcomes.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Malek Daouk</dc:creator>
  <cp:lastModifiedBy>Malek Daouk</cp:lastModifiedBy>
  <cp:revision>1</cp:revision>
  <dcterms:created xsi:type="dcterms:W3CDTF">2026-01-17T17:26:40Z</dcterms:created>
  <dcterms:modified xsi:type="dcterms:W3CDTF">2026-01-17T17:35:56Z</dcterms:modified>
</cp:coreProperties>
</file>