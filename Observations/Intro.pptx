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04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5CD1-267D-4F26-B3F9-D42C52121AD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C8E1-0560-4349-9667-CEB2AF66F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3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5CD1-267D-4F26-B3F9-D42C52121AD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C8E1-0560-4349-9667-CEB2AF66F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9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5CD1-267D-4F26-B3F9-D42C52121AD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C8E1-0560-4349-9667-CEB2AF66F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15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5CD1-267D-4F26-B3F9-D42C52121AD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C8E1-0560-4349-9667-CEB2AF66F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87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5CD1-267D-4F26-B3F9-D42C52121AD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C8E1-0560-4349-9667-CEB2AF66F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21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5CD1-267D-4F26-B3F9-D42C52121AD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C8E1-0560-4349-9667-CEB2AF66F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86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5CD1-267D-4F26-B3F9-D42C52121AD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C8E1-0560-4349-9667-CEB2AF66F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19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5CD1-267D-4F26-B3F9-D42C52121AD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C8E1-0560-4349-9667-CEB2AF66F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37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5CD1-267D-4F26-B3F9-D42C52121AD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C8E1-0560-4349-9667-CEB2AF66F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76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5CD1-267D-4F26-B3F9-D42C52121AD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C8E1-0560-4349-9667-CEB2AF66F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1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5CD1-267D-4F26-B3F9-D42C52121AD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C8E1-0560-4349-9667-CEB2AF66F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8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A5CD1-267D-4F26-B3F9-D42C52121AD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4C8E1-0560-4349-9667-CEB2AF66F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96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2D6BDD8-9CFB-DD41-857F-AEB3F38FB57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366963"/>
            <a:ext cx="7772400" cy="1143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6600" b="1" dirty="0">
              <a:solidFill>
                <a:srgbClr val="163E64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97816-C930-2D54-241E-9D12D926C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797247"/>
            <a:ext cx="6858000" cy="1655762"/>
          </a:xfrm>
        </p:spPr>
        <p:txBody>
          <a:bodyPr>
            <a:normAutofit/>
          </a:bodyPr>
          <a:lstStyle/>
          <a:p>
            <a:r>
              <a:rPr lang="en-US" sz="2000" b="1" spc="-50" dirty="0">
                <a:solidFill>
                  <a:srgbClr val="163E64"/>
                </a:solidFill>
                <a:latin typeface="+mj-lt"/>
                <a:ea typeface="+mj-ea"/>
                <a:cs typeface="+mj-cs"/>
              </a:rPr>
              <a:t>Advisor: </a:t>
            </a:r>
          </a:p>
          <a:p>
            <a:r>
              <a:rPr lang="en-US" sz="2000" b="1" spc="-50" dirty="0">
                <a:solidFill>
                  <a:srgbClr val="163E64"/>
                </a:solidFill>
                <a:latin typeface="+mj-lt"/>
                <a:ea typeface="+mj-ea"/>
                <a:cs typeface="+mj-cs"/>
              </a:rPr>
              <a:t>Prepared by: </a:t>
            </a:r>
          </a:p>
          <a:p>
            <a:r>
              <a:rPr lang="en-US" sz="2000" b="1" spc="-50" dirty="0">
                <a:solidFill>
                  <a:srgbClr val="163E64"/>
                </a:solidFill>
                <a:latin typeface="+mj-lt"/>
                <a:ea typeface="+mj-ea"/>
                <a:cs typeface="+mj-cs"/>
              </a:rPr>
              <a:t>Date: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6953F7-79BA-0323-01C7-1FD291D3DC3C}"/>
              </a:ext>
            </a:extLst>
          </p:cNvPr>
          <p:cNvSpPr/>
          <p:nvPr/>
        </p:nvSpPr>
        <p:spPr>
          <a:xfrm>
            <a:off x="0" y="2"/>
            <a:ext cx="9144000" cy="638827"/>
          </a:xfrm>
          <a:prstGeom prst="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63E64"/>
              </a:solidFill>
            </a:endParaRPr>
          </a:p>
        </p:txBody>
      </p:sp>
      <p:pic>
        <p:nvPicPr>
          <p:cNvPr id="5" name="Picture 2" descr="Northeastern Mutual Logo and symbol, meaning, history, PNG ...">
            <a:extLst>
              <a:ext uri="{FF2B5EF4-FFF2-40B4-BE49-F238E27FC236}">
                <a16:creationId xmlns:a16="http://schemas.microsoft.com/office/drawing/2014/main" id="{BDCB1444-8456-9413-A2C2-DA64E1B5D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740" y="5909936"/>
            <a:ext cx="203200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0AA2351-24E5-49B1-7709-EF27DE26FB89}"/>
              </a:ext>
            </a:extLst>
          </p:cNvPr>
          <p:cNvSpPr txBox="1">
            <a:spLocks/>
          </p:cNvSpPr>
          <p:nvPr/>
        </p:nvSpPr>
        <p:spPr>
          <a:xfrm>
            <a:off x="685800" y="1223962"/>
            <a:ext cx="7772400" cy="1143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>
                <a:solidFill>
                  <a:srgbClr val="163E64"/>
                </a:solidFill>
              </a:rPr>
              <a:t>Investment Proposal</a:t>
            </a:r>
          </a:p>
        </p:txBody>
      </p:sp>
    </p:spTree>
    <p:extLst>
      <p:ext uri="{BB962C8B-B14F-4D97-AF65-F5344CB8AC3E}">
        <p14:creationId xmlns:p14="http://schemas.microsoft.com/office/powerpoint/2010/main" val="222807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4C3A0C-B539-8CA8-176E-7AD902D6F51D}"/>
              </a:ext>
            </a:extLst>
          </p:cNvPr>
          <p:cNvSpPr/>
          <p:nvPr/>
        </p:nvSpPr>
        <p:spPr>
          <a:xfrm>
            <a:off x="0" y="44748"/>
            <a:ext cx="9144000" cy="638827"/>
          </a:xfrm>
          <a:prstGeom prst="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2" descr="Northeastern Mutual Logo and symbol, meaning, history, PNG ...">
            <a:extLst>
              <a:ext uri="{FF2B5EF4-FFF2-40B4-BE49-F238E27FC236}">
                <a16:creationId xmlns:a16="http://schemas.microsoft.com/office/drawing/2014/main" id="{F16C216E-9AA7-0BA1-B1E9-C627D2155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740" y="5909936"/>
            <a:ext cx="203200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29B18A5-4BFC-AD05-4953-5B209F57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8623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Emotions In Investing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16B3F67-266A-E092-3658-8C2B46307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1966106"/>
            <a:ext cx="7886700" cy="407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36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403C7-FB55-18BA-4A76-6193052A1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120D1-0BE9-BB3E-3320-A9A3D6077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669A0-45F9-1C80-941F-1E709B7AA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C0E95B-F4AE-7A7C-A72D-113D6997778C}"/>
              </a:ext>
            </a:extLst>
          </p:cNvPr>
          <p:cNvSpPr/>
          <p:nvPr/>
        </p:nvSpPr>
        <p:spPr>
          <a:xfrm>
            <a:off x="0" y="2"/>
            <a:ext cx="9144000" cy="638827"/>
          </a:xfrm>
          <a:prstGeom prst="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Shifting Market Leadership</a:t>
            </a:r>
          </a:p>
        </p:txBody>
      </p:sp>
      <p:pic>
        <p:nvPicPr>
          <p:cNvPr id="5" name="Picture 2" descr="Northeastern Mutual Logo and symbol, meaning, history, PNG ...">
            <a:extLst>
              <a:ext uri="{FF2B5EF4-FFF2-40B4-BE49-F238E27FC236}">
                <a16:creationId xmlns:a16="http://schemas.microsoft.com/office/drawing/2014/main" id="{FB2CC0D3-B1F0-3016-3C82-5273237D8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740" y="5909936"/>
            <a:ext cx="203200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nnual Asset Class Returns • Novel Investor">
            <a:extLst>
              <a:ext uri="{FF2B5EF4-FFF2-40B4-BE49-F238E27FC236}">
                <a16:creationId xmlns:a16="http://schemas.microsoft.com/office/drawing/2014/main" id="{6F71224A-EF0E-E01A-A9E8-291F5D7533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43"/>
          <a:stretch>
            <a:fillRect/>
          </a:stretch>
        </p:blipFill>
        <p:spPr bwMode="auto">
          <a:xfrm>
            <a:off x="368297" y="741366"/>
            <a:ext cx="7956468" cy="5435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50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CBC72-8255-A7A8-0BA1-8F98C6C6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8583A6-4211-8FD0-9074-7604EF2C5400}"/>
              </a:ext>
            </a:extLst>
          </p:cNvPr>
          <p:cNvSpPr/>
          <p:nvPr/>
        </p:nvSpPr>
        <p:spPr>
          <a:xfrm>
            <a:off x="0" y="2"/>
            <a:ext cx="9144000" cy="638827"/>
          </a:xfrm>
          <a:prstGeom prst="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Northeastern Mutual Logo and symbol, meaning, history, PNG ...">
            <a:extLst>
              <a:ext uri="{FF2B5EF4-FFF2-40B4-BE49-F238E27FC236}">
                <a16:creationId xmlns:a16="http://schemas.microsoft.com/office/drawing/2014/main" id="{EF2F8B78-0A87-01CA-A8DD-A5492718A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740" y="5909936"/>
            <a:ext cx="203200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E313340-0127-D8E9-0CB5-3D284283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43369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The Importance Of Investing Early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72AF6DB-B480-596C-989A-5E5DAD192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3661" y="1825625"/>
            <a:ext cx="77366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12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C0801-78BB-1BAA-E345-794091F81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8C20-0E77-B78C-F006-312D19C2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 descr="Maximizing an HSA for health care expenses">
            <a:extLst>
              <a:ext uri="{FF2B5EF4-FFF2-40B4-BE49-F238E27FC236}">
                <a16:creationId xmlns:a16="http://schemas.microsoft.com/office/drawing/2014/main" id="{6A076277-A236-5EC1-B183-41A9571066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661" y="1825625"/>
            <a:ext cx="773667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CED2EE-70E5-9E25-BE45-6710E96983D4}"/>
              </a:ext>
            </a:extLst>
          </p:cNvPr>
          <p:cNvSpPr/>
          <p:nvPr/>
        </p:nvSpPr>
        <p:spPr>
          <a:xfrm>
            <a:off x="0" y="2"/>
            <a:ext cx="9144000" cy="638827"/>
          </a:xfrm>
          <a:prstGeom prst="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The Benefits of HSA Accounts</a:t>
            </a:r>
          </a:p>
        </p:txBody>
      </p:sp>
      <p:pic>
        <p:nvPicPr>
          <p:cNvPr id="5" name="Picture 2" descr="Northeastern Mutual Logo and symbol, meaning, history, PNG ...">
            <a:extLst>
              <a:ext uri="{FF2B5EF4-FFF2-40B4-BE49-F238E27FC236}">
                <a16:creationId xmlns:a16="http://schemas.microsoft.com/office/drawing/2014/main" id="{51C89411-55A7-08BE-CC90-6DAF5FA31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740" y="5909936"/>
            <a:ext cx="203200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396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25</Words>
  <Application>Microsoft Office PowerPoint</Application>
  <PresentationFormat>On-screen Show (4:3)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Emotions In Investing</vt:lpstr>
      <vt:lpstr>PowerPoint Presentation</vt:lpstr>
      <vt:lpstr>The Importance Of Investing Early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Malek Daouk</dc:creator>
  <cp:lastModifiedBy>Malek Daouk</cp:lastModifiedBy>
  <cp:revision>1</cp:revision>
  <dcterms:created xsi:type="dcterms:W3CDTF">2025-12-21T01:47:10Z</dcterms:created>
  <dcterms:modified xsi:type="dcterms:W3CDTF">2025-12-21T01:48:16Z</dcterms:modified>
</cp:coreProperties>
</file>