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74" r:id="rId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7" d="100"/>
          <a:sy n="97" d="100"/>
        </p:scale>
        <p:origin x="2040"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6F40BC6-6ED5-4668-A9B1-4051975E77AD}" type="datetimeFigureOut">
              <a:rPr lang="en-US" smtClean="0"/>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4F7BFB-133B-4C43-A201-096EB79FEBE9}" type="slidenum">
              <a:rPr lang="en-US" smtClean="0"/>
              <a:t>‹#›</a:t>
            </a:fld>
            <a:endParaRPr lang="en-US"/>
          </a:p>
        </p:txBody>
      </p:sp>
    </p:spTree>
    <p:extLst>
      <p:ext uri="{BB962C8B-B14F-4D97-AF65-F5344CB8AC3E}">
        <p14:creationId xmlns:p14="http://schemas.microsoft.com/office/powerpoint/2010/main" val="18728908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F40BC6-6ED5-4668-A9B1-4051975E77AD}" type="datetimeFigureOut">
              <a:rPr lang="en-US" smtClean="0"/>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4F7BFB-133B-4C43-A201-096EB79FEBE9}" type="slidenum">
              <a:rPr lang="en-US" smtClean="0"/>
              <a:t>‹#›</a:t>
            </a:fld>
            <a:endParaRPr lang="en-US"/>
          </a:p>
        </p:txBody>
      </p:sp>
    </p:spTree>
    <p:extLst>
      <p:ext uri="{BB962C8B-B14F-4D97-AF65-F5344CB8AC3E}">
        <p14:creationId xmlns:p14="http://schemas.microsoft.com/office/powerpoint/2010/main" val="3580843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F40BC6-6ED5-4668-A9B1-4051975E77AD}" type="datetimeFigureOut">
              <a:rPr lang="en-US" smtClean="0"/>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4F7BFB-133B-4C43-A201-096EB79FEBE9}" type="slidenum">
              <a:rPr lang="en-US" smtClean="0"/>
              <a:t>‹#›</a:t>
            </a:fld>
            <a:endParaRPr lang="en-US"/>
          </a:p>
        </p:txBody>
      </p:sp>
    </p:spTree>
    <p:extLst>
      <p:ext uri="{BB962C8B-B14F-4D97-AF65-F5344CB8AC3E}">
        <p14:creationId xmlns:p14="http://schemas.microsoft.com/office/powerpoint/2010/main" val="28906388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6F40BC6-6ED5-4668-A9B1-4051975E77AD}" type="datetimeFigureOut">
              <a:rPr lang="en-US" smtClean="0"/>
              <a:t>12/20/2025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84F7BFB-133B-4C43-A201-096EB79FEBE9}" type="slidenum">
              <a:rPr lang="en-US" smtClean="0"/>
              <a:t>‹#›</a:t>
            </a:fld>
            <a:endParaRPr lang="en-US"/>
          </a:p>
        </p:txBody>
      </p:sp>
    </p:spTree>
    <p:extLst>
      <p:ext uri="{BB962C8B-B14F-4D97-AF65-F5344CB8AC3E}">
        <p14:creationId xmlns:p14="http://schemas.microsoft.com/office/powerpoint/2010/main" val="1359056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6F40BC6-6ED5-4668-A9B1-4051975E77AD}" type="datetimeFigureOut">
              <a:rPr lang="en-US" smtClean="0"/>
              <a:t>12/20/2025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84F7BFB-133B-4C43-A201-096EB79FEBE9}" type="slidenum">
              <a:rPr lang="en-US" smtClean="0"/>
              <a:t>‹#›</a:t>
            </a:fld>
            <a:endParaRPr lang="en-US"/>
          </a:p>
        </p:txBody>
      </p:sp>
    </p:spTree>
    <p:extLst>
      <p:ext uri="{BB962C8B-B14F-4D97-AF65-F5344CB8AC3E}">
        <p14:creationId xmlns:p14="http://schemas.microsoft.com/office/powerpoint/2010/main" val="28344407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6F40BC6-6ED5-4668-A9B1-4051975E77AD}" type="datetimeFigureOut">
              <a:rPr lang="en-US" smtClean="0"/>
              <a:t>12/20/2025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84F7BFB-133B-4C43-A201-096EB79FEBE9}" type="slidenum">
              <a:rPr lang="en-US" smtClean="0"/>
              <a:t>‹#›</a:t>
            </a:fld>
            <a:endParaRPr lang="en-US"/>
          </a:p>
        </p:txBody>
      </p:sp>
    </p:spTree>
    <p:extLst>
      <p:ext uri="{BB962C8B-B14F-4D97-AF65-F5344CB8AC3E}">
        <p14:creationId xmlns:p14="http://schemas.microsoft.com/office/powerpoint/2010/main" val="41386009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F40BC6-6ED5-4668-A9B1-4051975E77AD}" type="datetimeFigureOut">
              <a:rPr lang="en-US" smtClean="0"/>
              <a:t>12/20/2025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84F7BFB-133B-4C43-A201-096EB79FEBE9}" type="slidenum">
              <a:rPr lang="en-US" smtClean="0"/>
              <a:t>‹#›</a:t>
            </a:fld>
            <a:endParaRPr lang="en-US"/>
          </a:p>
        </p:txBody>
      </p:sp>
    </p:spTree>
    <p:extLst>
      <p:ext uri="{BB962C8B-B14F-4D97-AF65-F5344CB8AC3E}">
        <p14:creationId xmlns:p14="http://schemas.microsoft.com/office/powerpoint/2010/main" val="27420308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6F40BC6-6ED5-4668-A9B1-4051975E77AD}" type="datetimeFigureOut">
              <a:rPr lang="en-US" smtClean="0"/>
              <a:t>12/20/2025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84F7BFB-133B-4C43-A201-096EB79FEBE9}" type="slidenum">
              <a:rPr lang="en-US" smtClean="0"/>
              <a:t>‹#›</a:t>
            </a:fld>
            <a:endParaRPr lang="en-US"/>
          </a:p>
        </p:txBody>
      </p:sp>
    </p:spTree>
    <p:extLst>
      <p:ext uri="{BB962C8B-B14F-4D97-AF65-F5344CB8AC3E}">
        <p14:creationId xmlns:p14="http://schemas.microsoft.com/office/powerpoint/2010/main" val="12696452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6F40BC6-6ED5-4668-A9B1-4051975E77AD}" type="datetimeFigureOut">
              <a:rPr lang="en-US" smtClean="0"/>
              <a:t>12/20/2025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84F7BFB-133B-4C43-A201-096EB79FEBE9}" type="slidenum">
              <a:rPr lang="en-US" smtClean="0"/>
              <a:t>‹#›</a:t>
            </a:fld>
            <a:endParaRPr lang="en-US"/>
          </a:p>
        </p:txBody>
      </p:sp>
    </p:spTree>
    <p:extLst>
      <p:ext uri="{BB962C8B-B14F-4D97-AF65-F5344CB8AC3E}">
        <p14:creationId xmlns:p14="http://schemas.microsoft.com/office/powerpoint/2010/main" val="33103176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F40BC6-6ED5-4668-A9B1-4051975E77AD}" type="datetimeFigureOut">
              <a:rPr lang="en-US" smtClean="0"/>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4F7BFB-133B-4C43-A201-096EB79FEBE9}" type="slidenum">
              <a:rPr lang="en-US" smtClean="0"/>
              <a:t>‹#›</a:t>
            </a:fld>
            <a:endParaRPr lang="en-US"/>
          </a:p>
        </p:txBody>
      </p:sp>
    </p:spTree>
    <p:extLst>
      <p:ext uri="{BB962C8B-B14F-4D97-AF65-F5344CB8AC3E}">
        <p14:creationId xmlns:p14="http://schemas.microsoft.com/office/powerpoint/2010/main" val="13230874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F40BC6-6ED5-4668-A9B1-4051975E77AD}" type="datetimeFigureOut">
              <a:rPr lang="en-US" smtClean="0"/>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4F7BFB-133B-4C43-A201-096EB79FEBE9}" type="slidenum">
              <a:rPr lang="en-US" smtClean="0"/>
              <a:t>‹#›</a:t>
            </a:fld>
            <a:endParaRPr lang="en-US"/>
          </a:p>
        </p:txBody>
      </p:sp>
    </p:spTree>
    <p:extLst>
      <p:ext uri="{BB962C8B-B14F-4D97-AF65-F5344CB8AC3E}">
        <p14:creationId xmlns:p14="http://schemas.microsoft.com/office/powerpoint/2010/main" val="2163697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6F40BC6-6ED5-4668-A9B1-4051975E77AD}" type="datetimeFigureOut">
              <a:rPr lang="en-US" smtClean="0"/>
              <a:t>12/20/2025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84F7BFB-133B-4C43-A201-096EB79FEBE9}" type="slidenum">
              <a:rPr lang="en-US" smtClean="0"/>
              <a:t>‹#›</a:t>
            </a:fld>
            <a:endParaRPr lang="en-US"/>
          </a:p>
        </p:txBody>
      </p:sp>
    </p:spTree>
    <p:extLst>
      <p:ext uri="{BB962C8B-B14F-4D97-AF65-F5344CB8AC3E}">
        <p14:creationId xmlns:p14="http://schemas.microsoft.com/office/powerpoint/2010/main" val="34554868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18603-7A90-E5DB-B2BA-69BE0F6D46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5F0352-77DA-09E0-DE9B-5E9DAEF90CE7}"/>
              </a:ext>
            </a:extLst>
          </p:cNvPr>
          <p:cNvSpPr>
            <a:spLocks noGrp="1"/>
          </p:cNvSpPr>
          <p:nvPr>
            <p:ph type="title"/>
          </p:nvPr>
        </p:nvSpPr>
        <p:spPr>
          <a:xfrm>
            <a:off x="0" y="895951"/>
            <a:ext cx="9144000" cy="1325563"/>
          </a:xfrm>
        </p:spPr>
        <p:txBody>
          <a:bodyPr>
            <a:noAutofit/>
          </a:bodyPr>
          <a:lstStyle/>
          <a:p>
            <a:r>
              <a:rPr lang="en-US" sz="1200" dirty="0"/>
              <a:t>The expense ratio represents the annual cost a mutual fund or ETF charges to operate and manage the portfolio. This fee is deducted directly from the fund’s performance each year, and therefore reduces the return realized by the investor.</a:t>
            </a:r>
            <a:br>
              <a:rPr lang="en-US" sz="1200" dirty="0"/>
            </a:br>
            <a:br>
              <a:rPr lang="en-US" sz="1200" dirty="0"/>
            </a:br>
            <a:r>
              <a:rPr lang="en-US" sz="1200" dirty="0"/>
              <a:t>Higher expense ratios create a persistent performance drag. Over time, even small differences can materially impact long-term results due to compounding. Importantly, higher fees do not necessarily lead to better performance; many higher-cost funds have difficulty outperforming comparable, lower-cost strategies on a net-of-fee basis</a:t>
            </a:r>
          </a:p>
        </p:txBody>
      </p:sp>
      <p:sp>
        <p:nvSpPr>
          <p:cNvPr id="4" name="Rectangle 3">
            <a:extLst>
              <a:ext uri="{FF2B5EF4-FFF2-40B4-BE49-F238E27FC236}">
                <a16:creationId xmlns:a16="http://schemas.microsoft.com/office/drawing/2014/main" id="{48D83859-020A-E6A2-B5A7-196F05891F7B}"/>
              </a:ext>
            </a:extLst>
          </p:cNvPr>
          <p:cNvSpPr/>
          <p:nvPr/>
        </p:nvSpPr>
        <p:spPr>
          <a:xfrm>
            <a:off x="0" y="2"/>
            <a:ext cx="9144000" cy="638827"/>
          </a:xfrm>
          <a:prstGeom prst="rect">
            <a:avLst/>
          </a:prstGeom>
          <a:solidFill>
            <a:srgbClr val="163E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b="1" dirty="0"/>
              <a:t>Expense Ratio</a:t>
            </a:r>
          </a:p>
        </p:txBody>
      </p:sp>
      <p:pic>
        <p:nvPicPr>
          <p:cNvPr id="5" name="Picture 2" descr="Northeastern Mutual Logo and symbol, meaning, history, PNG ...">
            <a:extLst>
              <a:ext uri="{FF2B5EF4-FFF2-40B4-BE49-F238E27FC236}">
                <a16:creationId xmlns:a16="http://schemas.microsoft.com/office/drawing/2014/main" id="{CA16D699-C535-6CE3-D9AD-B9C6DDA6A2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86740" y="5909936"/>
            <a:ext cx="2032001" cy="1143000"/>
          </a:xfrm>
          <a:prstGeom prst="rect">
            <a:avLst/>
          </a:prstGeom>
          <a:noFill/>
          <a:extLst>
            <a:ext uri="{909E8E84-426E-40DD-AFC4-6F175D3DCCD1}">
              <a14:hiddenFill xmlns:a14="http://schemas.microsoft.com/office/drawing/2010/main">
                <a:solidFill>
                  <a:srgbClr val="FFFFFF"/>
                </a:solidFill>
              </a14:hiddenFill>
            </a:ext>
          </a:extLst>
        </p:spPr>
      </p:pic>
      <p:sp>
        <p:nvSpPr>
          <p:cNvPr id="6" name="Content Placeholder 5">
            <a:extLst>
              <a:ext uri="{FF2B5EF4-FFF2-40B4-BE49-F238E27FC236}">
                <a16:creationId xmlns:a16="http://schemas.microsoft.com/office/drawing/2014/main" id="{1C6CADCA-ACF2-7DC5-4077-216D27B9DBAD}"/>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29966978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96</Words>
  <Application>Microsoft Office PowerPoint</Application>
  <PresentationFormat>On-screen Show (4:3)</PresentationFormat>
  <Paragraphs>2</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The expense ratio represents the annual cost a mutual fund or ETF charges to operate and manage the portfolio. This fee is deducted directly from the fund’s performance each year, and therefore reduces the return realized by the investor.  Higher expense ratios create a persistent performance drag. Over time, even small differences can materially impact long-term results due to compounding. Importantly, higher fees do not necessarily lead to better performance; many higher-cost funds have difficulty outperforming comparable, lower-cost strategies on a net-of-fee basis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Malek Daouk</dc:creator>
  <cp:lastModifiedBy>Malek Daouk</cp:lastModifiedBy>
  <cp:revision>1</cp:revision>
  <dcterms:created xsi:type="dcterms:W3CDTF">2025-12-21T04:12:15Z</dcterms:created>
  <dcterms:modified xsi:type="dcterms:W3CDTF">2025-12-21T04:12:54Z</dcterms:modified>
</cp:coreProperties>
</file>