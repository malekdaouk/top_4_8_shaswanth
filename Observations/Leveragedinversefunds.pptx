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5" d="100"/>
          <a:sy n="55" d="100"/>
        </p:scale>
        <p:origin x="1624"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C3769A-08A2-4679-AFB0-9AC51962EFB9}"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3632555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C3769A-08A2-4679-AFB0-9AC51962EFB9}"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1463755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C3769A-08A2-4679-AFB0-9AC51962EFB9}"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2197859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C3769A-08A2-4679-AFB0-9AC51962EFB9}"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2914273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C3769A-08A2-4679-AFB0-9AC51962EFB9}"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952970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C3769A-08A2-4679-AFB0-9AC51962EFB9}"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117407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C3769A-08A2-4679-AFB0-9AC51962EFB9}" type="datetimeFigureOut">
              <a:rPr lang="en-US" smtClean="0"/>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1140421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C3769A-08A2-4679-AFB0-9AC51962EFB9}"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1234668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C3769A-08A2-4679-AFB0-9AC51962EFB9}"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3917344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C3769A-08A2-4679-AFB0-9AC51962EFB9}"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3068919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C3769A-08A2-4679-AFB0-9AC51962EFB9}"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9E4FE6-0F48-4520-9E6D-AB6B08BF4AC1}" type="slidenum">
              <a:rPr lang="en-US" smtClean="0"/>
              <a:t>‹#›</a:t>
            </a:fld>
            <a:endParaRPr lang="en-US"/>
          </a:p>
        </p:txBody>
      </p:sp>
    </p:spTree>
    <p:extLst>
      <p:ext uri="{BB962C8B-B14F-4D97-AF65-F5344CB8AC3E}">
        <p14:creationId xmlns:p14="http://schemas.microsoft.com/office/powerpoint/2010/main" val="782143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C3769A-08A2-4679-AFB0-9AC51962EFB9}" type="datetimeFigureOut">
              <a:rPr lang="en-US" smtClean="0"/>
              <a:t>1/6/2026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9E4FE6-0F48-4520-9E6D-AB6B08BF4AC1}" type="slidenum">
              <a:rPr lang="en-US" smtClean="0"/>
              <a:t>‹#›</a:t>
            </a:fld>
            <a:endParaRPr lang="en-US"/>
          </a:p>
        </p:txBody>
      </p:sp>
    </p:spTree>
    <p:extLst>
      <p:ext uri="{BB962C8B-B14F-4D97-AF65-F5344CB8AC3E}">
        <p14:creationId xmlns:p14="http://schemas.microsoft.com/office/powerpoint/2010/main" val="19119890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30"/>
            <a:ext cx="9050056" cy="1325563"/>
          </a:xfrm>
        </p:spPr>
        <p:txBody>
          <a:bodyPr>
            <a:noAutofit/>
          </a:bodyPr>
          <a:lstStyle/>
          <a:p>
            <a:r>
              <a:rPr lang="en-US" sz="1600" dirty="0"/>
              <a:t>Leveraged and inverse funds are designed to deliver amplified or opposite daily returns relative to a stated benchmark. Because these strategies reset daily, their long-term performance may differ materially from the benchmark’s cumulative return, particularly during periods of volatility.</a:t>
            </a:r>
            <a:br>
              <a:rPr lang="en-US" sz="1600" dirty="0"/>
            </a:br>
            <a:r>
              <a:rPr lang="en-US" sz="1600" dirty="0"/>
              <a:t>Reviewing the role, holding period, and sizing of these positions within the broader portfolio can help confirm that their behavior remains consistent with the investor’s objectives and risk profile.</a:t>
            </a:r>
          </a:p>
        </p:txBody>
      </p:sp>
      <p:sp>
        <p:nvSpPr>
          <p:cNvPr id="4" name="Rectangle 3">
            <a:extLst>
              <a:ext uri="{FF2B5EF4-FFF2-40B4-BE49-F238E27FC236}">
                <a16:creationId xmlns:a16="http://schemas.microsoft.com/office/drawing/2014/main" id="{1BCF15AE-2AC8-E897-22AF-1904437AB16D}"/>
              </a:ext>
            </a:extLst>
          </p:cNvPr>
          <p:cNvSpPr/>
          <p:nvPr/>
        </p:nvSpPr>
        <p:spPr>
          <a:xfrm>
            <a:off x="0" y="18"/>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Inverse/ Leveraged Funds</a:t>
            </a:r>
          </a:p>
        </p:txBody>
      </p:sp>
    </p:spTree>
    <p:extLst>
      <p:ext uri="{BB962C8B-B14F-4D97-AF65-F5344CB8AC3E}">
        <p14:creationId xmlns:p14="http://schemas.microsoft.com/office/powerpoint/2010/main" val="86501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80</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Leveraged and inverse funds are designed to deliver amplified or opposite daily returns relative to a stated benchmark. Because these strategies reset daily, their long-term performance may differ materially from the benchmark’s cumulative return, particularly during periods of volatility. Reviewing the role, holding period, and sizing of these positions within the broader portfolio can help confirm that their behavior remains consistent with the investor’s objectives and risk profile.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2026-01-06T20:04:35Z</dcterms:created>
  <dcterms:modified xsi:type="dcterms:W3CDTF">2026-01-06T20:05:43Z</dcterms:modified>
</cp:coreProperties>
</file>