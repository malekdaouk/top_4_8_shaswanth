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74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6D1474-B9A3-49D6-AF8D-36E81690CA11}"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3472670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D1474-B9A3-49D6-AF8D-36E81690CA11}"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1091646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6D1474-B9A3-49D6-AF8D-36E81690CA11}"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1962600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6D1474-B9A3-49D6-AF8D-36E81690CA11}"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2225703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6D1474-B9A3-49D6-AF8D-36E81690CA11}"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3614399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6D1474-B9A3-49D6-AF8D-36E81690CA11}"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1044288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6D1474-B9A3-49D6-AF8D-36E81690CA11}"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1410990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6D1474-B9A3-49D6-AF8D-36E81690CA11}"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106052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6D1474-B9A3-49D6-AF8D-36E81690CA11}"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2107783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D1474-B9A3-49D6-AF8D-36E81690CA11}"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3950858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D1474-B9A3-49D6-AF8D-36E81690CA11}"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49AC-7682-4CBE-80A0-F9D881FB3D28}" type="slidenum">
              <a:rPr lang="en-US" smtClean="0"/>
              <a:t>‹#›</a:t>
            </a:fld>
            <a:endParaRPr lang="en-US"/>
          </a:p>
        </p:txBody>
      </p:sp>
    </p:spTree>
    <p:extLst>
      <p:ext uri="{BB962C8B-B14F-4D97-AF65-F5344CB8AC3E}">
        <p14:creationId xmlns:p14="http://schemas.microsoft.com/office/powerpoint/2010/main" val="4220233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6D1474-B9A3-49D6-AF8D-36E81690CA11}" type="datetimeFigureOut">
              <a:rPr lang="en-US" smtClean="0"/>
              <a:t>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A849AC-7682-4CBE-80A0-F9D881FB3D28}" type="slidenum">
              <a:rPr lang="en-US" smtClean="0"/>
              <a:t>‹#›</a:t>
            </a:fld>
            <a:endParaRPr lang="en-US"/>
          </a:p>
        </p:txBody>
      </p:sp>
    </p:spTree>
    <p:extLst>
      <p:ext uri="{BB962C8B-B14F-4D97-AF65-F5344CB8AC3E}">
        <p14:creationId xmlns:p14="http://schemas.microsoft.com/office/powerpoint/2010/main" val="40986714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93945" y="858200"/>
            <a:ext cx="8924804" cy="1325563"/>
          </a:xfrm>
        </p:spPr>
        <p:txBody>
          <a:bodyPr>
            <a:noAutofit/>
          </a:bodyPr>
          <a:lstStyle/>
          <a:p>
            <a:r>
              <a:rPr lang="en-US" sz="1600" dirty="0"/>
              <a:t>A high concentration in digital assets, such as Bitcoin, can materially influence overall portfolio behavior, given their historically higher volatility and return variability compared to traditional asset classes. As a result, portfolio performance may become more sensitive to short-term market movements and sentiment shifts specific to the digital asset market.</a:t>
            </a:r>
            <a:br>
              <a:rPr lang="en-US" sz="1600" dirty="0"/>
            </a:br>
            <a:r>
              <a:rPr lang="en-US" sz="1600" dirty="0"/>
              <a:t>Reviewing the size of this allocation in the context of overall risk tolerance, time horizon, and liquidity needs can help ensure the exposure remains aligned with broader portfolio objectives.</a:t>
            </a:r>
          </a:p>
        </p:txBody>
      </p:sp>
      <p:sp>
        <p:nvSpPr>
          <p:cNvPr id="4" name="Rectangle 3">
            <a:extLst>
              <a:ext uri="{FF2B5EF4-FFF2-40B4-BE49-F238E27FC236}">
                <a16:creationId xmlns:a16="http://schemas.microsoft.com/office/drawing/2014/main" id="{1BCF15AE-2AC8-E897-22AF-1904437AB16D}"/>
              </a:ext>
            </a:extLst>
          </p:cNvPr>
          <p:cNvSpPr/>
          <p:nvPr/>
        </p:nvSpPr>
        <p:spPr>
          <a:xfrm>
            <a:off x="0" y="10"/>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Digital Assets</a:t>
            </a:r>
          </a:p>
        </p:txBody>
      </p:sp>
      <p:pic>
        <p:nvPicPr>
          <p:cNvPr id="5" name="Picture 2" descr="Northeastern Mutual Logo and symbol, meaning, history, PNG ...">
            <a:extLst>
              <a:ext uri="{FF2B5EF4-FFF2-40B4-BE49-F238E27FC236}">
                <a16:creationId xmlns:a16="http://schemas.microsoft.com/office/drawing/2014/main" id="{E4BDF49D-2D9B-74E1-E3BD-BEE1445C6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748" y="5909936"/>
            <a:ext cx="2032001"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91</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A high concentration in digital assets, such as Bitcoin, can materially influence overall portfolio behavior, given their historically higher volatility and return variability compared to traditional asset classes. As a result, portfolio performance may become more sensitive to short-term market movements and sentiment shifts specific to the digital asset market. Reviewing the size of this allocation in the context of overall risk tolerance, time horizon, and liquidity needs can help ensure the exposure remains aligned with broader portfolio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2026-01-06T19:50:30Z</dcterms:created>
  <dcterms:modified xsi:type="dcterms:W3CDTF">2026-01-06T19:51:36Z</dcterms:modified>
</cp:coreProperties>
</file>