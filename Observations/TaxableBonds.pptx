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4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D822-0D69-420E-9F0B-EF245CB1942E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891F-DA45-486D-BEB9-8796E0FF1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55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D822-0D69-420E-9F0B-EF245CB1942E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891F-DA45-486D-BEB9-8796E0FF1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1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D822-0D69-420E-9F0B-EF245CB1942E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891F-DA45-486D-BEB9-8796E0FF1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7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D822-0D69-420E-9F0B-EF245CB1942E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891F-DA45-486D-BEB9-8796E0FF1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85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D822-0D69-420E-9F0B-EF245CB1942E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891F-DA45-486D-BEB9-8796E0FF1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21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D822-0D69-420E-9F0B-EF245CB1942E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891F-DA45-486D-BEB9-8796E0FF1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07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D822-0D69-420E-9F0B-EF245CB1942E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891F-DA45-486D-BEB9-8796E0FF1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997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D822-0D69-420E-9F0B-EF245CB1942E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891F-DA45-486D-BEB9-8796E0FF1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86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D822-0D69-420E-9F0B-EF245CB1942E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891F-DA45-486D-BEB9-8796E0FF1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40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D822-0D69-420E-9F0B-EF245CB1942E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891F-DA45-486D-BEB9-8796E0FF1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8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D822-0D69-420E-9F0B-EF245CB1942E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891F-DA45-486D-BEB9-8796E0FF1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5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88D822-0D69-420E-9F0B-EF245CB1942E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B891F-DA45-486D-BEB9-8796E0FF1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4F8E-9B49-A158-1CED-FD8699AE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FCFD-C1C7-90EE-8837-3DA7C40C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208921"/>
            <a:ext cx="9018739" cy="1325563"/>
          </a:xfrm>
        </p:spPr>
        <p:txBody>
          <a:bodyPr>
            <a:noAutofit/>
          </a:bodyPr>
          <a:lstStyle/>
          <a:p>
            <a:r>
              <a:rPr lang="en-US" sz="1600" dirty="0"/>
              <a:t>Taxable bonds generate interest taxed as ordinary income when held in a non-qualified account. This annual taxation reduces the amount of income you retain and lowers the investment’s net return.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A more tax-efficient approach in a non-qualified account is municipal bonds. Municipal bonds generally provide federally tax-free interest, and in many cases state tax-free interest as well.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For investors in higher tax brackets, this can result in a significantly higher after-tax income stream compared to taxable bonds held in the same account.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CF15AE-2AC8-E897-22AF-1904437AB16D}"/>
              </a:ext>
            </a:extLst>
          </p:cNvPr>
          <p:cNvSpPr/>
          <p:nvPr/>
        </p:nvSpPr>
        <p:spPr>
          <a:xfrm>
            <a:off x="0" y="2"/>
            <a:ext cx="9144000" cy="638827"/>
          </a:xfrm>
          <a:prstGeom prst="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Taxable Bonds in Non-Qualified Accounts</a:t>
            </a:r>
          </a:p>
        </p:txBody>
      </p:sp>
      <p:pic>
        <p:nvPicPr>
          <p:cNvPr id="5" name="Picture 2" descr="Northeastern Mutual Logo and symbol, meaning, history, PNG ...">
            <a:extLst>
              <a:ext uri="{FF2B5EF4-FFF2-40B4-BE49-F238E27FC236}">
                <a16:creationId xmlns:a16="http://schemas.microsoft.com/office/drawing/2014/main" id="{E4BDF49D-2D9B-74E1-E3BD-BEE1445C6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740" y="5909936"/>
            <a:ext cx="203200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0D5458-0AC7-03F1-AE36-B9823754F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1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99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Taxable bonds generate interest taxed as ordinary income when held in a non-qualified account. This annual taxation reduces the amount of income you retain and lowers the investment’s net return.  A more tax-efficient approach in a non-qualified account is municipal bonds. Municipal bonds generally provide federally tax-free interest, and in many cases state tax-free interest as well.  For investors in higher tax brackets, this can result in a significantly higher after-tax income stream compared to taxable bonds held in the same account.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Malek Daouk</dc:creator>
  <cp:lastModifiedBy>Malek Daouk</cp:lastModifiedBy>
  <cp:revision>1</cp:revision>
  <dcterms:created xsi:type="dcterms:W3CDTF">2025-12-21T01:49:40Z</dcterms:created>
  <dcterms:modified xsi:type="dcterms:W3CDTF">2025-12-21T01:50:24Z</dcterms:modified>
</cp:coreProperties>
</file>