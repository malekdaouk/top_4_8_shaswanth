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8" r:id="rId2"/>
    <p:sldId id="269" r:id="rId3"/>
    <p:sldId id="267" r:id="rId4"/>
    <p:sldId id="270" r:id="rId5"/>
    <p:sldId id="271" r:id="rId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7" d="100"/>
          <a:sy n="97" d="100"/>
        </p:scale>
        <p:origin x="2040"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0F5D492-BAA5-4125-8E54-B585267429D4}"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98B389-9195-4F86-9587-D1C8D3F0DA62}" type="slidenum">
              <a:rPr lang="en-US" smtClean="0"/>
              <a:t>‹#›</a:t>
            </a:fld>
            <a:endParaRPr lang="en-US"/>
          </a:p>
        </p:txBody>
      </p:sp>
    </p:spTree>
    <p:extLst>
      <p:ext uri="{BB962C8B-B14F-4D97-AF65-F5344CB8AC3E}">
        <p14:creationId xmlns:p14="http://schemas.microsoft.com/office/powerpoint/2010/main" val="3023472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F5D492-BAA5-4125-8E54-B585267429D4}"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98B389-9195-4F86-9587-D1C8D3F0DA62}" type="slidenum">
              <a:rPr lang="en-US" smtClean="0"/>
              <a:t>‹#›</a:t>
            </a:fld>
            <a:endParaRPr lang="en-US"/>
          </a:p>
        </p:txBody>
      </p:sp>
    </p:spTree>
    <p:extLst>
      <p:ext uri="{BB962C8B-B14F-4D97-AF65-F5344CB8AC3E}">
        <p14:creationId xmlns:p14="http://schemas.microsoft.com/office/powerpoint/2010/main" val="3098395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F5D492-BAA5-4125-8E54-B585267429D4}"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98B389-9195-4F86-9587-D1C8D3F0DA62}" type="slidenum">
              <a:rPr lang="en-US" smtClean="0"/>
              <a:t>‹#›</a:t>
            </a:fld>
            <a:endParaRPr lang="en-US"/>
          </a:p>
        </p:txBody>
      </p:sp>
    </p:spTree>
    <p:extLst>
      <p:ext uri="{BB962C8B-B14F-4D97-AF65-F5344CB8AC3E}">
        <p14:creationId xmlns:p14="http://schemas.microsoft.com/office/powerpoint/2010/main" val="3853686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0F5D492-BAA5-4125-8E54-B585267429D4}" type="datetimeFigureOut">
              <a:rPr lang="en-US" smtClean="0"/>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98B389-9195-4F86-9587-D1C8D3F0DA62}" type="slidenum">
              <a:rPr lang="en-US" smtClean="0"/>
              <a:t>‹#›</a:t>
            </a:fld>
            <a:endParaRPr lang="en-US"/>
          </a:p>
        </p:txBody>
      </p:sp>
    </p:spTree>
    <p:extLst>
      <p:ext uri="{BB962C8B-B14F-4D97-AF65-F5344CB8AC3E}">
        <p14:creationId xmlns:p14="http://schemas.microsoft.com/office/powerpoint/2010/main" val="966834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0F5D492-BAA5-4125-8E54-B585267429D4}" type="datetimeFigureOut">
              <a:rPr lang="en-US" smtClean="0"/>
              <a:t>12/20/2025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B98B389-9195-4F86-9587-D1C8D3F0DA62}" type="slidenum">
              <a:rPr lang="en-US" smtClean="0"/>
              <a:t>‹#›</a:t>
            </a:fld>
            <a:endParaRPr lang="en-US"/>
          </a:p>
        </p:txBody>
      </p:sp>
    </p:spTree>
    <p:extLst>
      <p:ext uri="{BB962C8B-B14F-4D97-AF65-F5344CB8AC3E}">
        <p14:creationId xmlns:p14="http://schemas.microsoft.com/office/powerpoint/2010/main" val="3647501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0F5D492-BAA5-4125-8E54-B585267429D4}" type="datetimeFigureOut">
              <a:rPr lang="en-US" smtClean="0"/>
              <a:t>12/20/2025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98B389-9195-4F86-9587-D1C8D3F0DA62}" type="slidenum">
              <a:rPr lang="en-US" smtClean="0"/>
              <a:t>‹#›</a:t>
            </a:fld>
            <a:endParaRPr lang="en-US"/>
          </a:p>
        </p:txBody>
      </p:sp>
    </p:spTree>
    <p:extLst>
      <p:ext uri="{BB962C8B-B14F-4D97-AF65-F5344CB8AC3E}">
        <p14:creationId xmlns:p14="http://schemas.microsoft.com/office/powerpoint/2010/main" val="2481112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F5D492-BAA5-4125-8E54-B585267429D4}" type="datetimeFigureOut">
              <a:rPr lang="en-US" smtClean="0"/>
              <a:t>12/20/2025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B98B389-9195-4F86-9587-D1C8D3F0DA62}" type="slidenum">
              <a:rPr lang="en-US" smtClean="0"/>
              <a:t>‹#›</a:t>
            </a:fld>
            <a:endParaRPr lang="en-US"/>
          </a:p>
        </p:txBody>
      </p:sp>
    </p:spTree>
    <p:extLst>
      <p:ext uri="{BB962C8B-B14F-4D97-AF65-F5344CB8AC3E}">
        <p14:creationId xmlns:p14="http://schemas.microsoft.com/office/powerpoint/2010/main" val="153966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0F5D492-BAA5-4125-8E54-B585267429D4}" type="datetimeFigureOut">
              <a:rPr lang="en-US" smtClean="0"/>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98B389-9195-4F86-9587-D1C8D3F0DA62}" type="slidenum">
              <a:rPr lang="en-US" smtClean="0"/>
              <a:t>‹#›</a:t>
            </a:fld>
            <a:endParaRPr lang="en-US"/>
          </a:p>
        </p:txBody>
      </p:sp>
    </p:spTree>
    <p:extLst>
      <p:ext uri="{BB962C8B-B14F-4D97-AF65-F5344CB8AC3E}">
        <p14:creationId xmlns:p14="http://schemas.microsoft.com/office/powerpoint/2010/main" val="2198056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0F5D492-BAA5-4125-8E54-B585267429D4}" type="datetimeFigureOut">
              <a:rPr lang="en-US" smtClean="0"/>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98B389-9195-4F86-9587-D1C8D3F0DA62}" type="slidenum">
              <a:rPr lang="en-US" smtClean="0"/>
              <a:t>‹#›</a:t>
            </a:fld>
            <a:endParaRPr lang="en-US"/>
          </a:p>
        </p:txBody>
      </p:sp>
    </p:spTree>
    <p:extLst>
      <p:ext uri="{BB962C8B-B14F-4D97-AF65-F5344CB8AC3E}">
        <p14:creationId xmlns:p14="http://schemas.microsoft.com/office/powerpoint/2010/main" val="30870979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F5D492-BAA5-4125-8E54-B585267429D4}"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98B389-9195-4F86-9587-D1C8D3F0DA62}" type="slidenum">
              <a:rPr lang="en-US" smtClean="0"/>
              <a:t>‹#›</a:t>
            </a:fld>
            <a:endParaRPr lang="en-US"/>
          </a:p>
        </p:txBody>
      </p:sp>
    </p:spTree>
    <p:extLst>
      <p:ext uri="{BB962C8B-B14F-4D97-AF65-F5344CB8AC3E}">
        <p14:creationId xmlns:p14="http://schemas.microsoft.com/office/powerpoint/2010/main" val="4001820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F5D492-BAA5-4125-8E54-B585267429D4}"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98B389-9195-4F86-9587-D1C8D3F0DA62}" type="slidenum">
              <a:rPr lang="en-US" smtClean="0"/>
              <a:t>‹#›</a:t>
            </a:fld>
            <a:endParaRPr lang="en-US"/>
          </a:p>
        </p:txBody>
      </p:sp>
    </p:spTree>
    <p:extLst>
      <p:ext uri="{BB962C8B-B14F-4D97-AF65-F5344CB8AC3E}">
        <p14:creationId xmlns:p14="http://schemas.microsoft.com/office/powerpoint/2010/main" val="2214171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0F5D492-BAA5-4125-8E54-B585267429D4}" type="datetimeFigureOut">
              <a:rPr lang="en-US" smtClean="0"/>
              <a:t>12/20/2025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B98B389-9195-4F86-9587-D1C8D3F0DA62}" type="slidenum">
              <a:rPr lang="en-US" smtClean="0"/>
              <a:t>‹#›</a:t>
            </a:fld>
            <a:endParaRPr lang="en-US"/>
          </a:p>
        </p:txBody>
      </p:sp>
    </p:spTree>
    <p:extLst>
      <p:ext uri="{BB962C8B-B14F-4D97-AF65-F5344CB8AC3E}">
        <p14:creationId xmlns:p14="http://schemas.microsoft.com/office/powerpoint/2010/main" val="4675102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158A2-82B1-51EA-6A9B-019802CD832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80DBBAD-7C00-EF36-58F1-F8CE04DA4203}"/>
              </a:ext>
            </a:extLst>
          </p:cNvPr>
          <p:cNvSpPr/>
          <p:nvPr/>
        </p:nvSpPr>
        <p:spPr>
          <a:xfrm>
            <a:off x="0" y="2"/>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t>Disclosures</a:t>
            </a:r>
          </a:p>
        </p:txBody>
      </p:sp>
      <p:pic>
        <p:nvPicPr>
          <p:cNvPr id="5" name="Picture 2" descr="Northeastern Mutual Logo and symbol, meaning, history, PNG ...">
            <a:extLst>
              <a:ext uri="{FF2B5EF4-FFF2-40B4-BE49-F238E27FC236}">
                <a16:creationId xmlns:a16="http://schemas.microsoft.com/office/drawing/2014/main" id="{2D6BD762-37E8-ABB4-3B0F-F8DFDDF228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6740" y="5909936"/>
            <a:ext cx="2032001" cy="1143000"/>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6">
            <a:extLst>
              <a:ext uri="{FF2B5EF4-FFF2-40B4-BE49-F238E27FC236}">
                <a16:creationId xmlns:a16="http://schemas.microsoft.com/office/drawing/2014/main" id="{9F1A7ED3-54CD-7317-83D4-B5E609B2562F}"/>
              </a:ext>
            </a:extLst>
          </p:cNvPr>
          <p:cNvSpPr>
            <a:spLocks noGrp="1"/>
          </p:cNvSpPr>
          <p:nvPr>
            <p:ph idx="1"/>
          </p:nvPr>
        </p:nvSpPr>
        <p:spPr>
          <a:xfrm>
            <a:off x="323387" y="1003612"/>
            <a:ext cx="8191965" cy="5173353"/>
          </a:xfrm>
        </p:spPr>
        <p:txBody>
          <a:bodyPr>
            <a:normAutofit fontScale="92500" lnSpcReduction="20000"/>
          </a:bodyPr>
          <a:lstStyle/>
          <a:p>
            <a:pPr marL="0" indent="0">
              <a:buNone/>
            </a:pPr>
            <a:r>
              <a:rPr lang="en-US" dirty="0"/>
              <a:t>The information presented is for educational and illustrative purposes only and does not constitute an offer to buy or sell any security, nor should it be interpreted as personalized investment advice. Investment decisions should be made based on an investor’s individual objectives, risk tolerance, time horizon, tax situation, and financial circumstances. All investments involve risk, including possible loss of principal. Past performance is not indicative of future results. Forecasts, projections, and forward-looking statements are based on assumptions and are not guarantees. Actual results may differ materially. Market conditions, interest rates, regulations, and tax laws may change at any time and could impact investment outcomes. Clients should consult with their tax advisor, accountant, and legal counsel before implementing any strategy discussed.</a:t>
            </a:r>
          </a:p>
        </p:txBody>
      </p:sp>
    </p:spTree>
    <p:extLst>
      <p:ext uri="{BB962C8B-B14F-4D97-AF65-F5344CB8AC3E}">
        <p14:creationId xmlns:p14="http://schemas.microsoft.com/office/powerpoint/2010/main" val="3396998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36B51-1E9E-E49A-1B6E-22FD6A739C0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D8FF16A-2B86-B2CB-B0DA-604BD24EEB0B}"/>
              </a:ext>
            </a:extLst>
          </p:cNvPr>
          <p:cNvSpPr/>
          <p:nvPr/>
        </p:nvSpPr>
        <p:spPr>
          <a:xfrm>
            <a:off x="0" y="2"/>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t>Disclosures</a:t>
            </a:r>
          </a:p>
        </p:txBody>
      </p:sp>
      <p:pic>
        <p:nvPicPr>
          <p:cNvPr id="5" name="Picture 2" descr="Northeastern Mutual Logo and symbol, meaning, history, PNG ...">
            <a:extLst>
              <a:ext uri="{FF2B5EF4-FFF2-40B4-BE49-F238E27FC236}">
                <a16:creationId xmlns:a16="http://schemas.microsoft.com/office/drawing/2014/main" id="{F61CC9A9-96D3-AAF3-0855-D43462417D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6740" y="5909936"/>
            <a:ext cx="2032001" cy="1143000"/>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6">
            <a:extLst>
              <a:ext uri="{FF2B5EF4-FFF2-40B4-BE49-F238E27FC236}">
                <a16:creationId xmlns:a16="http://schemas.microsoft.com/office/drawing/2014/main" id="{463D3505-58FC-02C2-93F4-E899687FF837}"/>
              </a:ext>
            </a:extLst>
          </p:cNvPr>
          <p:cNvSpPr>
            <a:spLocks noGrp="1"/>
          </p:cNvSpPr>
          <p:nvPr>
            <p:ph idx="1"/>
          </p:nvPr>
        </p:nvSpPr>
        <p:spPr>
          <a:xfrm>
            <a:off x="125263" y="892100"/>
            <a:ext cx="8390089" cy="5284865"/>
          </a:xfrm>
        </p:spPr>
        <p:txBody>
          <a:bodyPr>
            <a:normAutofit fontScale="92500" lnSpcReduction="10000"/>
          </a:bodyPr>
          <a:lstStyle/>
          <a:p>
            <a:pPr marL="0" indent="0">
              <a:buNone/>
            </a:pPr>
            <a:r>
              <a:rPr lang="en-US" dirty="0"/>
              <a:t>Fixed income securities are subject to various risks, including credit risk, interest rate risk, reinvestment risk, liquidity risk, inflation risk, and market risk. Bond values generally decline as interest rates rise, and bonds sold prior to maturity may result in a gain or loss. Lower-rated bonds, including high-yield or non-investment-grade securities, involve greater volatility, higher credit risk, and increased possibility of default. Yield and income levels may fluctuate based on market conditions and are not guaranteed. Callable bonds may be redeemed by the issuer prior to maturity, which may affect cash flows and reinvestment opportunities. Fixed income diversification does not ensure a profit or protect against losses. Taxable bond yields referenced may not reflect fees, expenses, or the impact of taxes on returns.</a:t>
            </a:r>
          </a:p>
        </p:txBody>
      </p:sp>
    </p:spTree>
    <p:extLst>
      <p:ext uri="{BB962C8B-B14F-4D97-AF65-F5344CB8AC3E}">
        <p14:creationId xmlns:p14="http://schemas.microsoft.com/office/powerpoint/2010/main" val="4142949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368C3-6D03-4788-644E-5883036C5A8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0EFCD0C-91A2-FAF2-2463-1C1BC11782B4}"/>
              </a:ext>
            </a:extLst>
          </p:cNvPr>
          <p:cNvSpPr/>
          <p:nvPr/>
        </p:nvSpPr>
        <p:spPr>
          <a:xfrm>
            <a:off x="0" y="2"/>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t>Disclosures</a:t>
            </a:r>
          </a:p>
        </p:txBody>
      </p:sp>
      <p:pic>
        <p:nvPicPr>
          <p:cNvPr id="5" name="Picture 2" descr="Northeastern Mutual Logo and symbol, meaning, history, PNG ...">
            <a:extLst>
              <a:ext uri="{FF2B5EF4-FFF2-40B4-BE49-F238E27FC236}">
                <a16:creationId xmlns:a16="http://schemas.microsoft.com/office/drawing/2014/main" id="{B7999620-10A8-C316-4136-82059FE8E9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6740" y="5909936"/>
            <a:ext cx="2032001" cy="1143000"/>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6">
            <a:extLst>
              <a:ext uri="{FF2B5EF4-FFF2-40B4-BE49-F238E27FC236}">
                <a16:creationId xmlns:a16="http://schemas.microsoft.com/office/drawing/2014/main" id="{7B42EC0D-2220-2B89-B45B-86BEE42615DE}"/>
              </a:ext>
            </a:extLst>
          </p:cNvPr>
          <p:cNvSpPr>
            <a:spLocks noGrp="1"/>
          </p:cNvSpPr>
          <p:nvPr>
            <p:ph idx="1"/>
          </p:nvPr>
        </p:nvSpPr>
        <p:spPr>
          <a:xfrm>
            <a:off x="125263" y="947856"/>
            <a:ext cx="8247721" cy="5151051"/>
          </a:xfrm>
        </p:spPr>
        <p:txBody>
          <a:bodyPr>
            <a:normAutofit fontScale="92500"/>
          </a:bodyPr>
          <a:lstStyle/>
          <a:p>
            <a:pPr marL="0" indent="0">
              <a:buNone/>
            </a:pPr>
            <a:r>
              <a:rPr lang="en-US" dirty="0"/>
              <a:t>Municipal bonds are subject to credit, interest rate, market, and inflation risks. Although municipal bond interest is generally exempt from federal income tax, it may be subject to state and local taxes, the Alternative Minimum Tax (AMT), and changes in tax law. Tax treatment may vary by issuer, state of residence, and individual tax circumstances. Capital gains, if realized, are taxable. Municipal securities carry varying levels of credit quality, and defaults—while historically low—are possible. Tax-equivalent yield comparisons are illustrative and assume specific tax brackets, which may not reflect a client’s actual situation. Investors should consult with a qualified tax professional before relying on any tax-related projections or assumptions.</a:t>
            </a:r>
          </a:p>
        </p:txBody>
      </p:sp>
    </p:spTree>
    <p:extLst>
      <p:ext uri="{BB962C8B-B14F-4D97-AF65-F5344CB8AC3E}">
        <p14:creationId xmlns:p14="http://schemas.microsoft.com/office/powerpoint/2010/main" val="2411008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D3AA4-F1B0-B380-23F4-F8A68C4F83A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50300E5-C965-E81F-A59F-35989E434ED8}"/>
              </a:ext>
            </a:extLst>
          </p:cNvPr>
          <p:cNvSpPr/>
          <p:nvPr/>
        </p:nvSpPr>
        <p:spPr>
          <a:xfrm>
            <a:off x="0" y="2"/>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t>Disclosures</a:t>
            </a:r>
          </a:p>
        </p:txBody>
      </p:sp>
      <p:pic>
        <p:nvPicPr>
          <p:cNvPr id="5" name="Picture 2" descr="Northeastern Mutual Logo and symbol, meaning, history, PNG ...">
            <a:extLst>
              <a:ext uri="{FF2B5EF4-FFF2-40B4-BE49-F238E27FC236}">
                <a16:creationId xmlns:a16="http://schemas.microsoft.com/office/drawing/2014/main" id="{979E0A75-F352-B3C6-28A2-A468CF6BB5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6740" y="5909936"/>
            <a:ext cx="2032001" cy="1143000"/>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6">
            <a:extLst>
              <a:ext uri="{FF2B5EF4-FFF2-40B4-BE49-F238E27FC236}">
                <a16:creationId xmlns:a16="http://schemas.microsoft.com/office/drawing/2014/main" id="{9E8260BC-63DB-3657-9F34-87AFD3690C4A}"/>
              </a:ext>
            </a:extLst>
          </p:cNvPr>
          <p:cNvSpPr>
            <a:spLocks noGrp="1"/>
          </p:cNvSpPr>
          <p:nvPr>
            <p:ph idx="1"/>
          </p:nvPr>
        </p:nvSpPr>
        <p:spPr>
          <a:xfrm>
            <a:off x="125261" y="747734"/>
            <a:ext cx="8893478" cy="5162202"/>
          </a:xfrm>
        </p:spPr>
        <p:txBody>
          <a:bodyPr>
            <a:normAutofit fontScale="92500"/>
          </a:bodyPr>
          <a:lstStyle/>
          <a:p>
            <a:pPr marL="0" indent="0">
              <a:buNone/>
            </a:pPr>
            <a:r>
              <a:rPr lang="en-US" dirty="0"/>
              <a:t>Asset allocation and diversification are strategies designed to help manage risk; neither guarantees a profit nor eliminates the possibility of loss. Portfolio recommendations are based on current market conditions, which may change without notice. Modeling and hypothetical scenarios represent estimates and are not guarantees of future performance. Rebalancing may result in additional fees or tax consequences. The placement of assets across qualified and non-qualified accounts should be evaluated based on individual financial plans, tax considerations, and retirement objectives. Comparisons between taxable and tax-advantaged accounts are presented to illustrate potential differences and should not be interpreted as universal or definitive for all investors.</a:t>
            </a:r>
          </a:p>
        </p:txBody>
      </p:sp>
    </p:spTree>
    <p:extLst>
      <p:ext uri="{BB962C8B-B14F-4D97-AF65-F5344CB8AC3E}">
        <p14:creationId xmlns:p14="http://schemas.microsoft.com/office/powerpoint/2010/main" val="2571668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26641-6592-0035-BE6D-DB843ADAF6F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4AB3A24-B411-F502-75F7-3CF0D219483C}"/>
              </a:ext>
            </a:extLst>
          </p:cNvPr>
          <p:cNvSpPr/>
          <p:nvPr/>
        </p:nvSpPr>
        <p:spPr>
          <a:xfrm>
            <a:off x="0" y="2"/>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t>Disclosures</a:t>
            </a:r>
          </a:p>
        </p:txBody>
      </p:sp>
      <p:pic>
        <p:nvPicPr>
          <p:cNvPr id="5" name="Picture 2" descr="Northeastern Mutual Logo and symbol, meaning, history, PNG ...">
            <a:extLst>
              <a:ext uri="{FF2B5EF4-FFF2-40B4-BE49-F238E27FC236}">
                <a16:creationId xmlns:a16="http://schemas.microsoft.com/office/drawing/2014/main" id="{99FEF7D0-892E-D611-2FC7-10C92F18EA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6740" y="5909936"/>
            <a:ext cx="2032001" cy="1143000"/>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6">
            <a:extLst>
              <a:ext uri="{FF2B5EF4-FFF2-40B4-BE49-F238E27FC236}">
                <a16:creationId xmlns:a16="http://schemas.microsoft.com/office/drawing/2014/main" id="{0ED6818C-48E4-6645-D762-76734EE3293F}"/>
              </a:ext>
            </a:extLst>
          </p:cNvPr>
          <p:cNvSpPr>
            <a:spLocks noGrp="1"/>
          </p:cNvSpPr>
          <p:nvPr>
            <p:ph idx="1"/>
          </p:nvPr>
        </p:nvSpPr>
        <p:spPr>
          <a:xfrm>
            <a:off x="125263" y="947856"/>
            <a:ext cx="8390089" cy="5229109"/>
          </a:xfrm>
        </p:spPr>
        <p:txBody>
          <a:bodyPr>
            <a:normAutofit fontScale="92500" lnSpcReduction="10000"/>
          </a:bodyPr>
          <a:lstStyle/>
          <a:p>
            <a:pPr marL="0" indent="0">
              <a:buNone/>
            </a:pPr>
            <a:r>
              <a:rPr lang="en-US" dirty="0"/>
              <a:t>Benchmarks are presented for comparison purposes only and may not reflect the composition, risk profile, or investment approach of the referenced portfolio. Indexes are unmanaged, cannot be invested in directly, and do not include fees or expenses. Performance figures, yields, or return estimates are illustrative and should not be viewed as guarantees. Third-party data sources believed to be reliable are used, but accuracy and completeness cannot be assured. Charts, tables, and calculations may be simplified for presentation purposes. The client is responsible for reviewing full prospectuses, offering documents, and financial statements prior to making investment decisions. All opinions expressed are subject to change based on market conditions and new information.</a:t>
            </a:r>
          </a:p>
        </p:txBody>
      </p:sp>
    </p:spTree>
    <p:extLst>
      <p:ext uri="{BB962C8B-B14F-4D97-AF65-F5344CB8AC3E}">
        <p14:creationId xmlns:p14="http://schemas.microsoft.com/office/powerpoint/2010/main" val="238505965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662</Words>
  <Application>Microsoft Office PowerPoint</Application>
  <PresentationFormat>On-screen Show (4:3)</PresentationFormat>
  <Paragraphs>10</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Malek Daouk</dc:creator>
  <cp:lastModifiedBy>Malek Daouk</cp:lastModifiedBy>
  <cp:revision>1</cp:revision>
  <dcterms:created xsi:type="dcterms:W3CDTF">2025-12-21T01:51:15Z</dcterms:created>
  <dcterms:modified xsi:type="dcterms:W3CDTF">2025-12-21T01:51:45Z</dcterms:modified>
</cp:coreProperties>
</file>